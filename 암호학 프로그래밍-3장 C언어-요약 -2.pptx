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1"/>
  </p:sldMasterIdLst>
  <p:notesMasterIdLst>
    <p:notesMasterId r:id="rId25"/>
  </p:notesMasterIdLst>
  <p:handoutMasterIdLst>
    <p:handoutMasterId r:id="rId26"/>
  </p:handoutMasterIdLst>
  <p:sldIdLst>
    <p:sldId id="488" r:id="rId2"/>
    <p:sldId id="490" r:id="rId3"/>
    <p:sldId id="495" r:id="rId4"/>
    <p:sldId id="517" r:id="rId5"/>
    <p:sldId id="502" r:id="rId6"/>
    <p:sldId id="516" r:id="rId7"/>
    <p:sldId id="651" r:id="rId8"/>
    <p:sldId id="518" r:id="rId9"/>
    <p:sldId id="520" r:id="rId10"/>
    <p:sldId id="523" r:id="rId11"/>
    <p:sldId id="531" r:id="rId12"/>
    <p:sldId id="534" r:id="rId13"/>
    <p:sldId id="541" r:id="rId14"/>
    <p:sldId id="542" r:id="rId15"/>
    <p:sldId id="547" r:id="rId16"/>
    <p:sldId id="548" r:id="rId17"/>
    <p:sldId id="551" r:id="rId18"/>
    <p:sldId id="554" r:id="rId19"/>
    <p:sldId id="657" r:id="rId20"/>
    <p:sldId id="555" r:id="rId21"/>
    <p:sldId id="559" r:id="rId22"/>
    <p:sldId id="566" r:id="rId23"/>
    <p:sldId id="567" r:id="rId24"/>
  </p:sldIdLst>
  <p:sldSz cx="9144000" cy="6858000" type="screen4x3"/>
  <p:notesSz cx="7104063" cy="102346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pos="2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00"/>
    <a:srgbClr val="FFFFCC"/>
    <a:srgbClr val="A9A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0460" autoAdjust="0"/>
  </p:normalViewPr>
  <p:slideViewPr>
    <p:cSldViewPr>
      <p:cViewPr varScale="1">
        <p:scale>
          <a:sx n="101" d="100"/>
          <a:sy n="101" d="100"/>
        </p:scale>
        <p:origin x="1914" y="102"/>
      </p:cViewPr>
      <p:guideLst>
        <p:guide orient="horz" pos="686"/>
        <p:guide orient="horz" pos="4065"/>
        <p:guide pos="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1242" y="-108"/>
      </p:cViewPr>
      <p:guideLst>
        <p:guide orient="horz" pos="3224"/>
        <p:guide pos="223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424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439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424" y="9723439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97E11D1-4D27-44D1-BF68-3689B88F60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424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8375" y="4860925"/>
            <a:ext cx="5207316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문자열 유형을 편집하려면 누르십시오</a:t>
            </a:r>
            <a:r>
              <a:rPr lang="en-US" altLang="ko-KR" noProof="0"/>
              <a:t>.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세째 수준</a:t>
            </a:r>
          </a:p>
          <a:p>
            <a:pPr lvl="3"/>
            <a:r>
              <a:rPr lang="ko-KR" altLang="en-US" noProof="0"/>
              <a:t>네째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3439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424" y="9723439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DCCFEB4-E064-4BBB-97FF-773953CF4FA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81050" indent="-30003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201738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82750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162175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6193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0765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5337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9909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2FA9D17-FE5F-4BD2-88AC-7154C4DD1419}" type="slidenum">
              <a:rPr lang="en-US" altLang="ko-KR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ko-KR" sz="1300">
              <a:latin typeface="Times New Roman" panose="02020603050405020304" pitchFamily="18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3113" y="601663"/>
            <a:ext cx="5557837" cy="4167187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75" y="4860926"/>
            <a:ext cx="5207316" cy="4606925"/>
          </a:xfrm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81050" indent="-30003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201738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82750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162175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6193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0765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5337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9909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AE1C28F-C413-42F7-BF17-C5416E76D6F4}" type="slidenum">
              <a:rPr lang="en-US" altLang="ko-KR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ko-KR" sz="130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3113" y="601663"/>
            <a:ext cx="5557837" cy="4167187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75" y="4860926"/>
            <a:ext cx="5207316" cy="4606925"/>
          </a:xfrm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81050" indent="-30003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201738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82750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162175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6193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0765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5337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9909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D7F5629-9930-4A5E-B059-F375AF1A08AB}" type="slidenum">
              <a:rPr lang="en-US" altLang="ko-KR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US" altLang="ko-KR" sz="130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3113" y="601663"/>
            <a:ext cx="5557837" cy="4167187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75" y="4860926"/>
            <a:ext cx="5207316" cy="4606925"/>
          </a:xfrm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1079500"/>
          </a:xfrm>
          <a:prstGeom prst="rect">
            <a:avLst/>
          </a:prstGeom>
          <a:gradFill rotWithShape="0">
            <a:gsLst>
              <a:gs pos="0">
                <a:srgbClr val="FF6600"/>
              </a:gs>
              <a:gs pos="100000">
                <a:schemeClr val="bg1"/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3" name="Rectangle 3"/>
          <p:cNvSpPr>
            <a:spLocks noChangeArrowheads="1"/>
          </p:cNvSpPr>
          <p:nvPr userDrawn="1"/>
        </p:nvSpPr>
        <p:spPr bwMode="auto">
          <a:xfrm>
            <a:off x="0" y="5791200"/>
            <a:ext cx="9144000" cy="1079500"/>
          </a:xfrm>
          <a:prstGeom prst="rect">
            <a:avLst/>
          </a:prstGeom>
          <a:gradFill rotWithShape="0">
            <a:gsLst>
              <a:gs pos="0">
                <a:srgbClr val="FF6600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431800" y="873125"/>
            <a:ext cx="8382000" cy="76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3366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5" name="Rectangle 6"/>
          <p:cNvSpPr>
            <a:spLocks noChangeArrowheads="1"/>
          </p:cNvSpPr>
          <p:nvPr userDrawn="1"/>
        </p:nvSpPr>
        <p:spPr bwMode="auto">
          <a:xfrm>
            <a:off x="0" y="0"/>
            <a:ext cx="3048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auto">
          <a:xfrm>
            <a:off x="8229600" y="6400800"/>
            <a:ext cx="457200" cy="3048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fld id="{13C23D41-1FDA-489B-9F67-36A0CC5C70A5}" type="slidenum">
              <a:rPr lang="en-US" altLang="ko-KR" sz="1600" b="1" smtClean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</a:rPr>
              <a:pPr algn="ctr" eaLnBrk="1" latinLnBrk="1" hangingPunct="1">
                <a:defRPr/>
              </a:pPr>
              <a:t>‹#›</a:t>
            </a:fld>
            <a:endParaRPr lang="en-US" altLang="ko-KR" sz="1600" b="1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256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75316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2442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1000" y="944563"/>
            <a:ext cx="4094163" cy="5375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7563" y="944563"/>
            <a:ext cx="4094162" cy="5375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1245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53834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528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135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2857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7096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8297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37338" y="228600"/>
            <a:ext cx="2084387" cy="60912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03938" cy="60912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19296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44563"/>
            <a:ext cx="8340725" cy="537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auto">
          <a:xfrm>
            <a:off x="0" y="0"/>
            <a:ext cx="9144000" cy="1079500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chemeClr val="bg1"/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 userDrawn="1"/>
        </p:nvSpPr>
        <p:spPr bwMode="auto">
          <a:xfrm>
            <a:off x="0" y="6200775"/>
            <a:ext cx="9144000" cy="669925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46899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340725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6"/>
          <p:cNvSpPr>
            <a:spLocks noChangeArrowheads="1"/>
          </p:cNvSpPr>
          <p:nvPr userDrawn="1"/>
        </p:nvSpPr>
        <p:spPr bwMode="auto">
          <a:xfrm>
            <a:off x="431800" y="873125"/>
            <a:ext cx="8382000" cy="76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3366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1031" name="Rectangle 8"/>
          <p:cNvSpPr>
            <a:spLocks noChangeArrowheads="1"/>
          </p:cNvSpPr>
          <p:nvPr userDrawn="1"/>
        </p:nvSpPr>
        <p:spPr bwMode="auto">
          <a:xfrm>
            <a:off x="0" y="0"/>
            <a:ext cx="3048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469001" name="Rectangle 9"/>
          <p:cNvSpPr>
            <a:spLocks noChangeArrowheads="1"/>
          </p:cNvSpPr>
          <p:nvPr userDrawn="1"/>
        </p:nvSpPr>
        <p:spPr bwMode="auto">
          <a:xfrm>
            <a:off x="8229600" y="6400800"/>
            <a:ext cx="457200" cy="3048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fld id="{E3408090-2A92-4442-BC75-F9C026D3E164}" type="slidenum">
              <a:rPr lang="en-US" altLang="ko-KR" sz="1600" b="1" smtClean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</a:rPr>
              <a:pPr algn="ctr" eaLnBrk="1" latinLnBrk="1" hangingPunct="1">
                <a:defRPr/>
              </a:pPr>
              <a:t>‹#›</a:t>
            </a:fld>
            <a:endParaRPr lang="en-US" altLang="ko-KR" sz="1600" b="1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Monotype Sorts" pitchFamily="2" charset="2"/>
        <a:buChar char="q"/>
        <a:defRPr kumimoji="1" sz="26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Wingdings" panose="05000000000000000000" pitchFamily="2" charset="2"/>
        <a:buChar char="ü"/>
        <a:defRPr kumimoji="1" sz="24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Wingdings" panose="05000000000000000000" pitchFamily="2" charset="2"/>
        <a:buChar char="Ø"/>
        <a:defRPr kumimoji="1" sz="20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Wingdings" panose="05000000000000000000" pitchFamily="2" charset="2"/>
        <a:buChar char="§"/>
        <a:defRPr kumimoji="1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anose="020B0600000101010101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3" name="AutoShape 3"/>
          <p:cNvSpPr>
            <a:spLocks noChangeArrowheads="1"/>
          </p:cNvSpPr>
          <p:nvPr/>
        </p:nvSpPr>
        <p:spPr bwMode="auto">
          <a:xfrm>
            <a:off x="1187450" y="3573463"/>
            <a:ext cx="6629400" cy="1600200"/>
          </a:xfrm>
          <a:prstGeom prst="ellipseRibbon2">
            <a:avLst>
              <a:gd name="adj1" fmla="val 46727"/>
              <a:gd name="adj2" fmla="val 71204"/>
              <a:gd name="adj3" fmla="val 34759"/>
            </a:avLst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/>
          <a:p>
            <a:pPr algn="ctr" eaLnBrk="1" hangingPunct="1"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제 </a:t>
            </a:r>
            <a:r>
              <a:rPr kumimoji="0" lang="en-US" altLang="ko-KR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3 </a:t>
            </a: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장  연 산 자</a:t>
            </a:r>
          </a:p>
        </p:txBody>
      </p:sp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323850" y="1412875"/>
            <a:ext cx="83820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(</a:t>
            </a:r>
            <a:r>
              <a:rPr kumimoji="0" lang="ko-KR" altLang="en-US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핵심</a:t>
            </a: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)</a:t>
            </a:r>
            <a:r>
              <a:rPr kumimoji="0" lang="en-US" altLang="ko-KR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 C </a:t>
            </a:r>
            <a:r>
              <a:rPr kumimoji="0" lang="ko-KR" altLang="en-US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언어 및 실습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(1. </a:t>
            </a:r>
            <a:r>
              <a:rPr lang="ko-KR" altLang="en-US"/>
              <a:t>산술 연산자</a:t>
            </a:r>
            <a:r>
              <a:rPr lang="en-US" altLang="ko-KR"/>
              <a:t>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연산자 분류 </a:t>
            </a:r>
          </a:p>
        </p:txBody>
      </p:sp>
      <p:pic>
        <p:nvPicPr>
          <p:cNvPr id="2048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84313"/>
            <a:ext cx="7921625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(2. </a:t>
            </a:r>
            <a:r>
              <a:rPr lang="ko-KR" altLang="en-US"/>
              <a:t>비트 연산자</a:t>
            </a:r>
            <a:r>
              <a:rPr lang="en-US" altLang="ko-KR"/>
              <a:t>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44563"/>
            <a:ext cx="8439150" cy="5375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/>
              <a:t>비트 연산자</a:t>
            </a:r>
            <a:r>
              <a:rPr lang="en-US" altLang="ko-KR"/>
              <a:t>(bitwise operator) 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비트 단위로 연산을 하는 연산자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비트 단위의 논리</a:t>
            </a:r>
            <a:r>
              <a:rPr lang="en-US" altLang="ko-KR"/>
              <a:t>(logical) </a:t>
            </a:r>
            <a:r>
              <a:rPr lang="ko-KR" altLang="en-US"/>
              <a:t>연산자와 이동</a:t>
            </a:r>
            <a:r>
              <a:rPr lang="en-US" altLang="ko-KR"/>
              <a:t>(shift) </a:t>
            </a:r>
            <a:r>
              <a:rPr lang="ko-KR" altLang="en-US"/>
              <a:t>연산자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2" eaLnBrk="1" hangingPunct="1">
              <a:lnSpc>
                <a:spcPct val="90000"/>
              </a:lnSpc>
            </a:pPr>
            <a:endParaRPr lang="en-US" altLang="ko-KR" sz="1800"/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1</a:t>
            </a:r>
            <a:r>
              <a:rPr lang="ko-KR" altLang="en-US" sz="1800"/>
              <a:t>의 보수 연산자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~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en-US" altLang="ko-KR" sz="1800"/>
              <a:t> : </a:t>
            </a:r>
            <a:r>
              <a:rPr lang="ko-KR" altLang="en-US" sz="1800"/>
              <a:t>각 비트를 반전</a:t>
            </a:r>
            <a:r>
              <a:rPr lang="en-US" altLang="ko-KR" sz="1800"/>
              <a:t>(1</a:t>
            </a:r>
            <a:r>
              <a:rPr lang="ko-KR" altLang="en-US" sz="1800"/>
              <a:t>은 </a:t>
            </a:r>
            <a:r>
              <a:rPr lang="en-US" altLang="ko-KR" sz="1800"/>
              <a:t>0</a:t>
            </a:r>
            <a:r>
              <a:rPr lang="ko-KR" altLang="en-US" sz="1800"/>
              <a:t>로</a:t>
            </a:r>
            <a:r>
              <a:rPr lang="en-US" altLang="ko-KR" sz="1800"/>
              <a:t>, 0</a:t>
            </a:r>
            <a:r>
              <a:rPr lang="ko-KR" altLang="en-US" sz="1800"/>
              <a:t>은 </a:t>
            </a:r>
            <a:r>
              <a:rPr lang="en-US" altLang="ko-KR" sz="1800"/>
              <a:t>1</a:t>
            </a:r>
            <a:r>
              <a:rPr lang="ko-KR" altLang="en-US" sz="1800"/>
              <a:t>로</a:t>
            </a:r>
            <a:r>
              <a:rPr lang="en-US" altLang="ko-KR" sz="1800"/>
              <a:t>)</a:t>
            </a:r>
            <a:r>
              <a:rPr lang="ko-KR" altLang="en-US" sz="1800"/>
              <a:t>시키는 연산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a&amp;b : a</a:t>
            </a:r>
            <a:r>
              <a:rPr lang="ko-KR" altLang="en-US" sz="1800"/>
              <a:t>와 </a:t>
            </a:r>
            <a:r>
              <a:rPr lang="en-US" altLang="ko-KR" sz="1800"/>
              <a:t>b</a:t>
            </a:r>
            <a:r>
              <a:rPr lang="ko-KR" altLang="en-US" sz="1800"/>
              <a:t>를 비트 단위로 </a:t>
            </a:r>
            <a:r>
              <a:rPr lang="en-US" altLang="ko-KR" sz="1800"/>
              <a:t>AND </a:t>
            </a:r>
            <a:r>
              <a:rPr lang="ko-KR" altLang="en-US" sz="1800"/>
              <a:t>연산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^ : </a:t>
            </a:r>
            <a:r>
              <a:rPr lang="ko-KR" altLang="en-US" sz="1800"/>
              <a:t>두 비트 중 하나만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1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ko-KR" altLang="en-US" sz="1800"/>
              <a:t>이면 논리가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1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ko-KR" altLang="en-US" sz="1800"/>
              <a:t>이 되는 연산 </a:t>
            </a:r>
            <a:r>
              <a:rPr lang="en-US" altLang="ko-KR" sz="1800"/>
              <a:t>XOR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|</a:t>
            </a:r>
            <a:r>
              <a:rPr lang="en-US" altLang="ko-KR" sz="1800">
                <a:latin typeface="Arial" panose="020B0604020202020204" pitchFamily="34" charset="0"/>
              </a:rPr>
              <a:t> </a:t>
            </a:r>
            <a:r>
              <a:rPr lang="en-US" altLang="ko-KR" sz="1800"/>
              <a:t> : </a:t>
            </a:r>
            <a:r>
              <a:rPr lang="ko-KR" altLang="en-US" sz="1800"/>
              <a:t>연산은 두 비트 중 한 비트라도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1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ko-KR" altLang="en-US" sz="1800"/>
              <a:t>이면 논리가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1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ko-KR" altLang="en-US" sz="1800"/>
              <a:t>이 되는 </a:t>
            </a:r>
            <a:r>
              <a:rPr lang="en-US" altLang="ko-KR" sz="1800"/>
              <a:t>OR  </a:t>
            </a:r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384425"/>
            <a:ext cx="6372225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2533" name="직사각형 4"/>
          <p:cNvSpPr>
            <a:spLocks noChangeArrowheads="1"/>
          </p:cNvSpPr>
          <p:nvPr/>
        </p:nvSpPr>
        <p:spPr bwMode="auto">
          <a:xfrm>
            <a:off x="1139825" y="2384425"/>
            <a:ext cx="6419850" cy="16922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(3. </a:t>
            </a:r>
            <a:r>
              <a:rPr lang="ko-KR" altLang="en-US"/>
              <a:t>관계</a:t>
            </a:r>
            <a:r>
              <a:rPr lang="en-US" altLang="ko-KR"/>
              <a:t>, </a:t>
            </a:r>
            <a:r>
              <a:rPr lang="ko-KR" altLang="en-US"/>
              <a:t>등가</a:t>
            </a:r>
            <a:r>
              <a:rPr lang="en-US" altLang="ko-KR"/>
              <a:t>, </a:t>
            </a:r>
            <a:r>
              <a:rPr lang="ko-KR" altLang="en-US"/>
              <a:t>논리 연산자</a:t>
            </a:r>
            <a:r>
              <a:rPr lang="en-US" altLang="ko-KR"/>
              <a:t>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ko-KR" altLang="en-US"/>
              <a:t>논리 연산자</a:t>
            </a:r>
            <a:r>
              <a:rPr lang="en-US" altLang="ko-KR"/>
              <a:t>(logical operator) </a:t>
            </a:r>
          </a:p>
          <a:p>
            <a:pPr lvl="2" eaLnBrk="1" hangingPunct="1"/>
            <a:r>
              <a:rPr lang="ko-KR" altLang="en-US"/>
              <a:t>두 입력은 참과 거짓 두 값</a:t>
            </a:r>
            <a:r>
              <a:rPr lang="en-US" altLang="ko-KR"/>
              <a:t>,</a:t>
            </a:r>
            <a:r>
              <a:rPr lang="en-US" altLang="ko-KR">
                <a:latin typeface="Arial" panose="020B0604020202020204" pitchFamily="34" charset="0"/>
              </a:rPr>
              <a:t> </a:t>
            </a:r>
            <a:r>
              <a:rPr lang="ko-KR" altLang="en-US"/>
              <a:t>출력은 참 혹은 거짓 중의 한 값 </a:t>
            </a:r>
          </a:p>
          <a:p>
            <a:pPr lvl="2" eaLnBrk="1" hangingPunct="1"/>
            <a:r>
              <a:rPr lang="ko-KR" altLang="en-US"/>
              <a:t>논리의 참은 </a:t>
            </a:r>
            <a:r>
              <a:rPr lang="ko-KR" altLang="en-US">
                <a:latin typeface="Arial" panose="020B0604020202020204" pitchFamily="34" charset="0"/>
              </a:rPr>
              <a:t>“</a:t>
            </a:r>
            <a:r>
              <a:rPr lang="en-US" altLang="ko-KR"/>
              <a:t>1</a:t>
            </a:r>
            <a:r>
              <a:rPr lang="en-US" altLang="ko-KR">
                <a:latin typeface="Arial" panose="020B0604020202020204" pitchFamily="34" charset="0"/>
              </a:rPr>
              <a:t>”</a:t>
            </a:r>
            <a:r>
              <a:rPr lang="ko-KR" altLang="en-US"/>
              <a:t>로 거짓은 </a:t>
            </a:r>
            <a:r>
              <a:rPr lang="ko-KR" altLang="en-US">
                <a:latin typeface="Arial" panose="020B0604020202020204" pitchFamily="34" charset="0"/>
              </a:rPr>
              <a:t>“</a:t>
            </a:r>
            <a:r>
              <a:rPr lang="en-US" altLang="ko-KR"/>
              <a:t>0</a:t>
            </a:r>
            <a:r>
              <a:rPr lang="en-US" altLang="ko-KR">
                <a:latin typeface="Arial" panose="020B0604020202020204" pitchFamily="34" charset="0"/>
              </a:rPr>
              <a:t>”</a:t>
            </a:r>
            <a:r>
              <a:rPr lang="ko-KR" altLang="en-US"/>
              <a:t>으로 표현 </a:t>
            </a:r>
          </a:p>
          <a:p>
            <a:pPr lvl="2" eaLnBrk="1" hangingPunct="1"/>
            <a:r>
              <a:rPr lang="ko-KR" altLang="en-US"/>
              <a:t>입력 중에서 </a:t>
            </a:r>
            <a:r>
              <a:rPr lang="ko-KR" altLang="en-US">
                <a:latin typeface="Arial" panose="020B0604020202020204" pitchFamily="34" charset="0"/>
              </a:rPr>
              <a:t>“</a:t>
            </a:r>
            <a:r>
              <a:rPr lang="en-US" altLang="ko-KR"/>
              <a:t>0</a:t>
            </a:r>
            <a:r>
              <a:rPr lang="en-US" altLang="ko-KR">
                <a:latin typeface="Arial" panose="020B0604020202020204" pitchFamily="34" charset="0"/>
              </a:rPr>
              <a:t>”</a:t>
            </a:r>
            <a:r>
              <a:rPr lang="ko-KR" altLang="en-US"/>
              <a:t>이 아닌 수가 입력되면 이것은 논리적으로 참이 입력</a:t>
            </a:r>
            <a:endParaRPr lang="en-US" altLang="ko-KR"/>
          </a:p>
          <a:p>
            <a:pPr lvl="2" eaLnBrk="1" hangingPunct="1"/>
            <a:endParaRPr lang="ko-KR" altLang="en-US"/>
          </a:p>
          <a:p>
            <a:pPr lvl="3" eaLnBrk="1" hangingPunct="1"/>
            <a:r>
              <a:rPr lang="en-US" altLang="ko-KR"/>
              <a:t>5 &amp;&amp; 0 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ko-KR">
                <a:latin typeface="Arial" panose="020B0604020202020204" pitchFamily="34" charset="0"/>
              </a:rPr>
              <a:t>  </a:t>
            </a:r>
            <a:r>
              <a:rPr lang="en-US" altLang="ko-KR"/>
              <a:t>➡ </a:t>
            </a:r>
            <a:r>
              <a:rPr lang="ko-KR" altLang="en-US"/>
              <a:t>결과는 </a:t>
            </a:r>
            <a:r>
              <a:rPr lang="en-US" altLang="ko-KR"/>
              <a:t>0(</a:t>
            </a:r>
            <a:r>
              <a:rPr lang="ko-KR" altLang="en-US"/>
              <a:t>거짓</a:t>
            </a:r>
            <a:r>
              <a:rPr lang="en-US" altLang="ko-KR"/>
              <a:t>) </a:t>
            </a:r>
          </a:p>
          <a:p>
            <a:pPr lvl="3" eaLnBrk="1" hangingPunct="1"/>
            <a:r>
              <a:rPr lang="en-US" altLang="ko-KR">
                <a:latin typeface="Arial" panose="020B0604020202020204" pitchFamily="34" charset="0"/>
              </a:rPr>
              <a:t> </a:t>
            </a:r>
            <a:r>
              <a:rPr lang="en-US" altLang="ko-KR"/>
              <a:t>5 &amp;&amp; 7 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ko-KR">
                <a:latin typeface="Arial" panose="020B0604020202020204" pitchFamily="34" charset="0"/>
              </a:rPr>
              <a:t>  </a:t>
            </a:r>
            <a:r>
              <a:rPr lang="en-US" altLang="ko-KR"/>
              <a:t>➡ </a:t>
            </a:r>
            <a:r>
              <a:rPr lang="ko-KR" altLang="en-US"/>
              <a:t>결과는 </a:t>
            </a:r>
            <a:r>
              <a:rPr lang="en-US" altLang="ko-KR"/>
              <a:t>1(</a:t>
            </a:r>
            <a:r>
              <a:rPr lang="ko-KR" altLang="en-US"/>
              <a:t>참</a:t>
            </a:r>
            <a:r>
              <a:rPr lang="en-US" altLang="ko-KR"/>
              <a:t>) </a:t>
            </a:r>
          </a:p>
          <a:p>
            <a:pPr lvl="3" eaLnBrk="1" hangingPunct="1"/>
            <a:r>
              <a:rPr lang="en-US" altLang="ko-KR"/>
              <a:t> 5 || 0 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ko-KR">
                <a:latin typeface="Arial" panose="020B0604020202020204" pitchFamily="34" charset="0"/>
              </a:rPr>
              <a:t>  </a:t>
            </a:r>
            <a:r>
              <a:rPr lang="en-US" altLang="ko-KR"/>
              <a:t>➡ </a:t>
            </a:r>
            <a:r>
              <a:rPr lang="ko-KR" altLang="en-US"/>
              <a:t>결과는 </a:t>
            </a:r>
            <a:r>
              <a:rPr lang="en-US" altLang="ko-KR"/>
              <a:t>1(</a:t>
            </a:r>
            <a:r>
              <a:rPr lang="ko-KR" altLang="en-US"/>
              <a:t>참</a:t>
            </a:r>
            <a:r>
              <a:rPr lang="en-US" altLang="ko-KR"/>
              <a:t>) </a:t>
            </a:r>
          </a:p>
          <a:p>
            <a:pPr lvl="3" eaLnBrk="1" hangingPunct="1"/>
            <a:r>
              <a:rPr lang="en-US" altLang="ko-KR">
                <a:latin typeface="Arial" panose="020B0604020202020204" pitchFamily="34" charset="0"/>
              </a:rPr>
              <a:t> </a:t>
            </a:r>
            <a:r>
              <a:rPr lang="en-US" altLang="ko-KR"/>
              <a:t>5 || 7 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ko-KR">
                <a:latin typeface="Arial" panose="020B0604020202020204" pitchFamily="34" charset="0"/>
              </a:rPr>
              <a:t>  </a:t>
            </a:r>
            <a:r>
              <a:rPr lang="en-US" altLang="ko-KR"/>
              <a:t>➡ </a:t>
            </a:r>
            <a:r>
              <a:rPr lang="ko-KR" altLang="en-US"/>
              <a:t>결과는 </a:t>
            </a:r>
            <a:r>
              <a:rPr lang="en-US" altLang="ko-KR"/>
              <a:t>1(</a:t>
            </a:r>
            <a:r>
              <a:rPr lang="ko-KR" altLang="en-US"/>
              <a:t>참</a:t>
            </a:r>
            <a:r>
              <a:rPr lang="en-US" altLang="ko-KR"/>
              <a:t>)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br>
              <a:rPr lang="en-US" altLang="ko-KR"/>
            </a:br>
            <a:endParaRPr lang="en-US" altLang="ko-KR"/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88" y="3897313"/>
            <a:ext cx="4786312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7653" name="직사각형 4"/>
          <p:cNvSpPr>
            <a:spLocks noChangeArrowheads="1"/>
          </p:cNvSpPr>
          <p:nvPr/>
        </p:nvSpPr>
        <p:spPr bwMode="auto">
          <a:xfrm>
            <a:off x="3925888" y="3924300"/>
            <a:ext cx="4786312" cy="13414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(3. </a:t>
            </a:r>
            <a:r>
              <a:rPr lang="ko-KR" altLang="en-US"/>
              <a:t>관계</a:t>
            </a:r>
            <a:r>
              <a:rPr lang="en-US" altLang="ko-KR"/>
              <a:t>, </a:t>
            </a:r>
            <a:r>
              <a:rPr lang="ko-KR" altLang="en-US"/>
              <a:t>등가</a:t>
            </a:r>
            <a:r>
              <a:rPr lang="en-US" altLang="ko-KR"/>
              <a:t>, </a:t>
            </a:r>
            <a:r>
              <a:rPr lang="ko-KR" altLang="en-US"/>
              <a:t>논리 연산자</a:t>
            </a:r>
            <a:r>
              <a:rPr lang="en-US" altLang="ko-KR"/>
              <a:t>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ko-KR" altLang="en-US"/>
              <a:t>두 개의 피연산자간의 관계를 비교한 것 </a:t>
            </a:r>
          </a:p>
          <a:p>
            <a:pPr lvl="1" eaLnBrk="1" hangingPunct="1"/>
            <a:r>
              <a:rPr lang="ko-KR" altLang="en-US"/>
              <a:t>그 결과는 수치적인 의미를 가지는 것이 아니라 참</a:t>
            </a:r>
            <a:r>
              <a:rPr lang="en-US" altLang="ko-KR"/>
              <a:t>(true)</a:t>
            </a:r>
            <a:r>
              <a:rPr lang="ko-KR" altLang="en-US"/>
              <a:t>과 거짓</a:t>
            </a:r>
            <a:r>
              <a:rPr lang="en-US" altLang="ko-KR"/>
              <a:t>(false) </a:t>
            </a:r>
          </a:p>
          <a:p>
            <a:pPr lvl="1" eaLnBrk="1" hangingPunct="1"/>
            <a:r>
              <a:rPr lang="ko-KR" altLang="en-US"/>
              <a:t>관계 및 등가 연산자</a:t>
            </a:r>
          </a:p>
          <a:p>
            <a:pPr lvl="1" eaLnBrk="1" hangingPunct="1"/>
            <a:endParaRPr lang="ko-KR" altLang="en-US"/>
          </a:p>
          <a:p>
            <a:pPr lvl="1" eaLnBrk="1" hangingPunct="1"/>
            <a:endParaRPr lang="ko-KR" altLang="en-US"/>
          </a:p>
          <a:p>
            <a:pPr lvl="1" eaLnBrk="1" hangingPunct="1"/>
            <a:endParaRPr lang="ko-KR" altLang="en-US"/>
          </a:p>
          <a:p>
            <a:pPr lvl="1" eaLnBrk="1" hangingPunct="1"/>
            <a:endParaRPr lang="ko-KR" altLang="en-US"/>
          </a:p>
          <a:p>
            <a:pPr lvl="2" eaLnBrk="1" hangingPunct="1"/>
            <a:endParaRPr lang="ko-KR" altLang="en-US"/>
          </a:p>
          <a:p>
            <a:pPr lvl="2" eaLnBrk="1" hangingPunct="1"/>
            <a:r>
              <a:rPr lang="ko-KR" altLang="en-US"/>
              <a:t>관계 연산자 </a:t>
            </a:r>
            <a:r>
              <a:rPr lang="en-US" altLang="ko-KR"/>
              <a:t>: &gt;, &lt;, &gt;=, </a:t>
            </a:r>
            <a:r>
              <a:rPr lang="ko-KR" altLang="en-US"/>
              <a:t>그리고 </a:t>
            </a:r>
            <a:r>
              <a:rPr lang="en-US" altLang="ko-KR"/>
              <a:t>&lt;= </a:t>
            </a:r>
          </a:p>
          <a:p>
            <a:pPr lvl="2" eaLnBrk="1" hangingPunct="1"/>
            <a:r>
              <a:rPr lang="ko-KR" altLang="en-US"/>
              <a:t>등가 연산자 </a:t>
            </a:r>
            <a:r>
              <a:rPr lang="en-US" altLang="ko-KR"/>
              <a:t>: </a:t>
            </a:r>
            <a:r>
              <a:rPr lang="en-US" altLang="ko-KR">
                <a:latin typeface="Arial" panose="020B0604020202020204" pitchFamily="34" charset="0"/>
              </a:rPr>
              <a:t>“</a:t>
            </a:r>
            <a:r>
              <a:rPr lang="en-US" altLang="ko-KR"/>
              <a:t>==</a:t>
            </a:r>
            <a:r>
              <a:rPr lang="en-US" altLang="ko-KR">
                <a:latin typeface="Arial" panose="020B0604020202020204" pitchFamily="34" charset="0"/>
              </a:rPr>
              <a:t>”</a:t>
            </a:r>
            <a:r>
              <a:rPr lang="en-US" altLang="ko-KR"/>
              <a:t> </a:t>
            </a:r>
            <a:r>
              <a:rPr lang="ko-KR" altLang="en-US"/>
              <a:t>연산자와 </a:t>
            </a:r>
            <a:r>
              <a:rPr lang="ko-KR" altLang="en-US">
                <a:latin typeface="Arial" panose="020B0604020202020204" pitchFamily="34" charset="0"/>
              </a:rPr>
              <a:t>“</a:t>
            </a:r>
            <a:r>
              <a:rPr lang="en-US" altLang="ko-KR"/>
              <a:t>!=</a:t>
            </a:r>
            <a:r>
              <a:rPr lang="en-US" altLang="ko-KR">
                <a:latin typeface="Arial" panose="020B0604020202020204" pitchFamily="34" charset="0"/>
              </a:rPr>
              <a:t>”</a:t>
            </a:r>
            <a:r>
              <a:rPr lang="en-US" altLang="ko-KR"/>
              <a:t> </a:t>
            </a:r>
            <a:r>
              <a:rPr lang="ko-KR" altLang="en-US"/>
              <a:t>연산자 </a:t>
            </a:r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276475"/>
            <a:ext cx="6480175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8677" name="직사각형 4"/>
          <p:cNvSpPr>
            <a:spLocks noChangeArrowheads="1"/>
          </p:cNvSpPr>
          <p:nvPr/>
        </p:nvSpPr>
        <p:spPr bwMode="auto">
          <a:xfrm>
            <a:off x="1138238" y="2276475"/>
            <a:ext cx="6492875" cy="2159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 </a:t>
            </a:r>
            <a:r>
              <a:rPr lang="en-US" altLang="ko-KR"/>
              <a:t>(8. </a:t>
            </a:r>
            <a:r>
              <a:rPr lang="ko-KR" altLang="en-US"/>
              <a:t>연산 우선 순위 </a:t>
            </a:r>
            <a:r>
              <a:rPr lang="en-US" altLang="ko-KR"/>
              <a:t>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ko-KR" altLang="ko-KR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052513"/>
            <a:ext cx="5724525" cy="554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9701" name="직사각형 4"/>
          <p:cNvSpPr>
            <a:spLocks noChangeArrowheads="1"/>
          </p:cNvSpPr>
          <p:nvPr/>
        </p:nvSpPr>
        <p:spPr bwMode="auto">
          <a:xfrm>
            <a:off x="863600" y="1054100"/>
            <a:ext cx="5724525" cy="55435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 txBox="1">
            <a:spLocks noChangeArrowheads="1"/>
          </p:cNvSpPr>
          <p:nvPr/>
        </p:nvSpPr>
        <p:spPr bwMode="auto">
          <a:xfrm>
            <a:off x="431800" y="981075"/>
            <a:ext cx="8340725" cy="587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800" dirty="0"/>
              <a:t> 문자 다루기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ko-KR" altLang="en-US" dirty="0"/>
              <a:t> </a:t>
            </a:r>
            <a:r>
              <a:rPr lang="ko-KR" altLang="en-US" sz="2000" dirty="0"/>
              <a:t>가</a:t>
            </a:r>
            <a:r>
              <a:rPr lang="en-US" altLang="ko-KR" sz="2000" dirty="0"/>
              <a:t>) 8</a:t>
            </a:r>
            <a:r>
              <a:rPr lang="ko-KR" altLang="en-US" sz="2000" dirty="0"/>
              <a:t>비트 정보를 가진 </a:t>
            </a:r>
            <a:r>
              <a:rPr lang="en-US" altLang="ko-KR" sz="2000" dirty="0"/>
              <a:t>0x9A</a:t>
            </a:r>
            <a:r>
              <a:rPr lang="ko-KR" altLang="en-US" sz="2000" dirty="0"/>
              <a:t>라는 정수형</a:t>
            </a:r>
            <a:r>
              <a:rPr lang="en-US" altLang="ko-KR" sz="2000" dirty="0"/>
              <a:t>(</a:t>
            </a:r>
            <a:r>
              <a:rPr lang="ko-KR" altLang="en-US" sz="2000" dirty="0"/>
              <a:t>혹은 문자형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en-US" altLang="ko-KR" sz="2000" dirty="0"/>
              <a:t>       </a:t>
            </a:r>
            <a:r>
              <a:rPr lang="ko-KR" altLang="en-US" sz="2000" dirty="0"/>
              <a:t>의 각 비트를 상위비트부터 출력해 보시오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endParaRPr lang="ko-KR" alt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 나</a:t>
            </a:r>
            <a:r>
              <a:rPr lang="en-US" altLang="ko-KR" sz="2000" dirty="0"/>
              <a:t>) 0x9A</a:t>
            </a:r>
            <a:r>
              <a:rPr lang="ko-KR" altLang="en-US" sz="2000" dirty="0"/>
              <a:t>라는 문자의 하위 </a:t>
            </a:r>
            <a:r>
              <a:rPr lang="en-US" altLang="ko-KR" sz="2000" dirty="0"/>
              <a:t>4</a:t>
            </a:r>
            <a:r>
              <a:rPr lang="ko-KR" altLang="en-US" sz="2000" dirty="0"/>
              <a:t>번째 비트 값을 구해 출력</a:t>
            </a:r>
            <a:br>
              <a:rPr lang="en-US" altLang="ko-KR" sz="2000" dirty="0"/>
            </a:br>
            <a:r>
              <a:rPr lang="en-US" altLang="ko-KR" sz="2000" dirty="0"/>
              <a:t>       </a:t>
            </a:r>
            <a:r>
              <a:rPr lang="ko-KR" altLang="en-US" sz="2000" dirty="0"/>
              <a:t>해 보시오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endParaRPr lang="ko-KR" alt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 다</a:t>
            </a:r>
            <a:r>
              <a:rPr lang="en-US" altLang="ko-KR" sz="2000" dirty="0"/>
              <a:t>) 8</a:t>
            </a:r>
            <a:r>
              <a:rPr lang="ko-KR" altLang="en-US" sz="2000" dirty="0"/>
              <a:t>비트를 </a:t>
            </a:r>
            <a:r>
              <a:rPr lang="en-US" altLang="ko-KR" sz="2000" dirty="0"/>
              <a:t>4</a:t>
            </a:r>
            <a:r>
              <a:rPr lang="ko-KR" altLang="en-US" sz="2000" dirty="0"/>
              <a:t>비트씩 분리하여 각각 </a:t>
            </a:r>
            <a:r>
              <a:rPr lang="en-US" altLang="ko-KR" sz="2000" dirty="0"/>
              <a:t>0x9</a:t>
            </a:r>
            <a:r>
              <a:rPr lang="ko-KR" altLang="en-US" sz="2000" dirty="0"/>
              <a:t>와 </a:t>
            </a:r>
            <a:r>
              <a:rPr lang="en-US" altLang="ko-KR" sz="2000" dirty="0"/>
              <a:t>0xA</a:t>
            </a:r>
            <a:r>
              <a:rPr lang="ko-KR" altLang="en-US" sz="2000" dirty="0"/>
              <a:t>를 출력</a:t>
            </a:r>
            <a:br>
              <a:rPr lang="en-US" altLang="ko-KR" sz="2000" dirty="0"/>
            </a:br>
            <a:r>
              <a:rPr lang="en-US" altLang="ko-KR" sz="2000" dirty="0"/>
              <a:t>       </a:t>
            </a:r>
            <a:r>
              <a:rPr lang="ko-KR" altLang="en-US" sz="2000" dirty="0"/>
              <a:t>해 보시오</a:t>
            </a:r>
            <a:br>
              <a:rPr lang="en-US" altLang="ko-KR" sz="2000" dirty="0"/>
            </a:br>
            <a:endParaRPr lang="ko-KR" alt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 라</a:t>
            </a:r>
            <a:r>
              <a:rPr lang="en-US" altLang="ko-KR" sz="2000" dirty="0"/>
              <a:t>) 0x9</a:t>
            </a:r>
            <a:r>
              <a:rPr lang="ko-KR" altLang="en-US" sz="2000" dirty="0"/>
              <a:t>에는 </a:t>
            </a:r>
            <a:r>
              <a:rPr lang="en-US" altLang="ko-KR" sz="2000" dirty="0"/>
              <a:t>0xB</a:t>
            </a:r>
            <a:r>
              <a:rPr lang="ko-KR" altLang="en-US" sz="2000" dirty="0"/>
              <a:t>와 </a:t>
            </a:r>
            <a:r>
              <a:rPr lang="en-US" altLang="ko-KR" sz="2000" dirty="0"/>
              <a:t>XOR</a:t>
            </a:r>
            <a:r>
              <a:rPr lang="ko-KR" altLang="en-US" sz="2000" dirty="0"/>
              <a:t>를 </a:t>
            </a:r>
            <a:r>
              <a:rPr lang="en-US" altLang="ko-KR" sz="2000" dirty="0"/>
              <a:t>0xA</a:t>
            </a:r>
            <a:r>
              <a:rPr lang="ko-KR" altLang="en-US" sz="2000" dirty="0"/>
              <a:t>에는 </a:t>
            </a:r>
            <a:r>
              <a:rPr lang="en-US" altLang="ko-KR" sz="2000" dirty="0"/>
              <a:t>0xF</a:t>
            </a:r>
            <a:r>
              <a:rPr lang="ko-KR" altLang="en-US" sz="2000" dirty="0"/>
              <a:t>와 </a:t>
            </a:r>
            <a:r>
              <a:rPr lang="en-US" altLang="ko-KR" sz="2000" dirty="0"/>
              <a:t>XOR</a:t>
            </a:r>
            <a:r>
              <a:rPr lang="ko-KR" altLang="en-US" sz="2000" dirty="0"/>
              <a:t>를 하</a:t>
            </a:r>
            <a:br>
              <a:rPr lang="en-US" altLang="ko-KR" sz="2000" dirty="0"/>
            </a:br>
            <a:r>
              <a:rPr lang="en-US" altLang="ko-KR" sz="2000" dirty="0"/>
              <a:t>       </a:t>
            </a:r>
            <a:r>
              <a:rPr lang="ko-KR" altLang="en-US" sz="2000" dirty="0"/>
              <a:t>여 각각 </a:t>
            </a:r>
            <a:r>
              <a:rPr lang="en-US" altLang="ko-KR" sz="2000" dirty="0"/>
              <a:t>left</a:t>
            </a:r>
            <a:r>
              <a:rPr lang="ko-KR" altLang="en-US" sz="2000" dirty="0"/>
              <a:t>와 </a:t>
            </a:r>
            <a:r>
              <a:rPr lang="en-US" altLang="ko-KR" sz="2000" dirty="0"/>
              <a:t>right </a:t>
            </a:r>
            <a:r>
              <a:rPr lang="ko-KR" altLang="en-US" sz="2000" dirty="0"/>
              <a:t>라는 변수에 저장해 보시오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endParaRPr lang="ko-KR" alt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 마</a:t>
            </a:r>
            <a:r>
              <a:rPr lang="en-US" altLang="ko-KR" sz="2000" dirty="0"/>
              <a:t>) left</a:t>
            </a:r>
            <a:r>
              <a:rPr lang="ko-KR" altLang="en-US" sz="2000" dirty="0"/>
              <a:t>와 </a:t>
            </a:r>
            <a:r>
              <a:rPr lang="en-US" altLang="ko-KR" sz="2000" dirty="0"/>
              <a:t>right </a:t>
            </a:r>
            <a:r>
              <a:rPr lang="ko-KR" altLang="en-US" sz="2000" dirty="0"/>
              <a:t>라는 변수의 값을 서로 바꾸어 보시오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endParaRPr lang="ko-KR" alt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 바</a:t>
            </a:r>
            <a:r>
              <a:rPr lang="en-US" altLang="ko-KR" sz="2000" dirty="0"/>
              <a:t>) left </a:t>
            </a:r>
            <a:r>
              <a:rPr lang="ko-KR" altLang="en-US" sz="2000" dirty="0"/>
              <a:t>변수 값과 </a:t>
            </a:r>
            <a:r>
              <a:rPr lang="en-US" altLang="ko-KR" sz="2000" dirty="0"/>
              <a:t>right </a:t>
            </a:r>
            <a:r>
              <a:rPr lang="ko-KR" altLang="en-US" sz="2000" dirty="0"/>
              <a:t>변수 값을 서로 </a:t>
            </a:r>
            <a:r>
              <a:rPr lang="ko-KR" altLang="en-US" sz="2000" dirty="0" err="1"/>
              <a:t>연접시켜</a:t>
            </a:r>
            <a:r>
              <a:rPr lang="en-US" altLang="ko-KR" sz="2000" dirty="0"/>
              <a:t>(</a:t>
            </a:r>
            <a:r>
              <a:rPr lang="ko-KR" altLang="en-US" sz="2000" dirty="0"/>
              <a:t>붙여서</a:t>
            </a:r>
            <a:r>
              <a:rPr lang="en-US" altLang="ko-KR" sz="2000" dirty="0"/>
              <a:t>)</a:t>
            </a:r>
            <a:r>
              <a:rPr lang="ko-KR" altLang="en-US" sz="2000" dirty="0"/>
              <a:t> 하나</a:t>
            </a:r>
            <a:br>
              <a:rPr lang="en-US" altLang="ko-KR" sz="2000" dirty="0"/>
            </a:br>
            <a:r>
              <a:rPr lang="en-US" altLang="ko-KR" sz="2000" dirty="0"/>
              <a:t>       </a:t>
            </a:r>
            <a:r>
              <a:rPr lang="ko-KR" altLang="en-US" sz="2000" dirty="0"/>
              <a:t>의 문자를 만들어 보시오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81000" y="228600"/>
            <a:ext cx="8340725" cy="644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 anchor="ctr"/>
          <a:lstStyle/>
          <a:p>
            <a:pPr eaLnBrk="1" latinLnBrk="1" hangingPunct="1">
              <a:defRPr/>
            </a:pPr>
            <a:r>
              <a:rPr lang="ko-KR" altLang="en-US" sz="3000" b="1" kern="0" dirty="0">
                <a:solidFill>
                  <a:srgbClr val="1964B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기본적인 프로그래밍</a:t>
            </a:r>
            <a:r>
              <a:rPr lang="en-US" altLang="ko-KR" sz="3000" b="1" kern="0" dirty="0">
                <a:solidFill>
                  <a:srgbClr val="1964B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lang="ko-KR" altLang="en-US" sz="3000" b="1" kern="0" dirty="0">
                <a:solidFill>
                  <a:srgbClr val="1964B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연습</a:t>
            </a:r>
            <a:r>
              <a:rPr lang="en-US" altLang="ko-KR" sz="3000" b="1" kern="0" dirty="0">
                <a:solidFill>
                  <a:srgbClr val="1964B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3" name="AutoShape 3"/>
          <p:cNvSpPr>
            <a:spLocks noChangeArrowheads="1"/>
          </p:cNvSpPr>
          <p:nvPr/>
        </p:nvSpPr>
        <p:spPr bwMode="auto">
          <a:xfrm>
            <a:off x="1187450" y="3573463"/>
            <a:ext cx="6629400" cy="1600200"/>
          </a:xfrm>
          <a:prstGeom prst="ellipseRibbon2">
            <a:avLst>
              <a:gd name="adj1" fmla="val 46727"/>
              <a:gd name="adj2" fmla="val 71204"/>
              <a:gd name="adj3" fmla="val 34759"/>
            </a:avLst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/>
          <a:p>
            <a:pPr algn="ctr" eaLnBrk="1" hangingPunct="1"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제 </a:t>
            </a:r>
            <a:r>
              <a:rPr kumimoji="0" lang="en-US" altLang="ko-KR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4 </a:t>
            </a: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장 프로그램 제어문</a:t>
            </a:r>
          </a:p>
        </p:txBody>
      </p:sp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323850" y="1412875"/>
            <a:ext cx="83820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(</a:t>
            </a:r>
            <a:r>
              <a:rPr kumimoji="0" lang="ko-KR" altLang="en-US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핵심</a:t>
            </a: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)</a:t>
            </a:r>
            <a:r>
              <a:rPr kumimoji="0" lang="en-US" altLang="ko-KR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 C </a:t>
            </a:r>
            <a:r>
              <a:rPr kumimoji="0" lang="ko-KR" altLang="en-US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언어 및 실습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4</a:t>
            </a:r>
            <a:r>
              <a:rPr lang="ko-KR" altLang="en-US"/>
              <a:t>장 프로그램 제어문</a:t>
            </a:r>
            <a:r>
              <a:rPr lang="en-US" altLang="ko-KR"/>
              <a:t>(1. if </a:t>
            </a:r>
            <a:r>
              <a:rPr lang="ko-KR" altLang="en-US"/>
              <a:t>문</a:t>
            </a:r>
            <a:r>
              <a:rPr lang="en-US" altLang="ko-KR"/>
              <a:t>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프로그램 제어문 </a:t>
            </a:r>
            <a:r>
              <a:rPr lang="en-US" altLang="ko-KR"/>
              <a:t>: </a:t>
            </a:r>
            <a:r>
              <a:rPr lang="ko-KR" altLang="en-US"/>
              <a:t>프로그램의 실행 순서 변경 혹은 반복 </a:t>
            </a:r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16113"/>
            <a:ext cx="7453313" cy="381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33797" name="직사각형 4"/>
          <p:cNvSpPr>
            <a:spLocks noChangeArrowheads="1"/>
          </p:cNvSpPr>
          <p:nvPr/>
        </p:nvSpPr>
        <p:spPr bwMode="auto">
          <a:xfrm>
            <a:off x="758825" y="2276475"/>
            <a:ext cx="7377113" cy="4318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33798" name="직사각형 5"/>
          <p:cNvSpPr>
            <a:spLocks noChangeArrowheads="1"/>
          </p:cNvSpPr>
          <p:nvPr/>
        </p:nvSpPr>
        <p:spPr bwMode="auto">
          <a:xfrm>
            <a:off x="793750" y="3033713"/>
            <a:ext cx="7342188" cy="6477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33799" name="직사각형 6"/>
          <p:cNvSpPr>
            <a:spLocks noChangeArrowheads="1"/>
          </p:cNvSpPr>
          <p:nvPr/>
        </p:nvSpPr>
        <p:spPr bwMode="auto">
          <a:xfrm>
            <a:off x="811213" y="5337175"/>
            <a:ext cx="7342187" cy="3238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4</a:t>
            </a:r>
            <a:r>
              <a:rPr lang="ko-KR" altLang="en-US"/>
              <a:t>장 프로그램 제어문</a:t>
            </a:r>
            <a:r>
              <a:rPr lang="en-US" altLang="ko-KR"/>
              <a:t>(1. if </a:t>
            </a:r>
            <a:r>
              <a:rPr lang="ko-KR" altLang="en-US"/>
              <a:t>문</a:t>
            </a:r>
            <a:r>
              <a:rPr lang="en-US" altLang="ko-KR"/>
              <a:t>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if-else</a:t>
            </a:r>
            <a:r>
              <a:rPr lang="ko-KR" altLang="en-US"/>
              <a:t>문 </a:t>
            </a:r>
          </a:p>
          <a:p>
            <a:pPr eaLnBrk="1" hangingPunct="1"/>
            <a:endParaRPr lang="ko-KR" altLang="en-US"/>
          </a:p>
          <a:p>
            <a:pPr eaLnBrk="1" hangingPunct="1"/>
            <a:endParaRPr lang="ko-KR" altLang="en-US"/>
          </a:p>
          <a:p>
            <a:pPr eaLnBrk="1" hangingPunct="1"/>
            <a:endParaRPr lang="ko-KR" altLang="en-US"/>
          </a:p>
          <a:p>
            <a:pPr eaLnBrk="1" hangingPunct="1">
              <a:buFont typeface="Monotype Sorts" pitchFamily="2" charset="2"/>
              <a:buNone/>
            </a:pPr>
            <a:endParaRPr lang="ko-KR" altLang="en-US"/>
          </a:p>
          <a:p>
            <a:pPr lvl="2" eaLnBrk="1" hangingPunct="1"/>
            <a:r>
              <a:rPr lang="ko-KR" altLang="en-US"/>
              <a:t>조건식을 검사하여 그 결과가 참이면 </a:t>
            </a:r>
            <a:r>
              <a:rPr lang="en-US" altLang="ko-KR"/>
              <a:t>{</a:t>
            </a:r>
            <a:r>
              <a:rPr lang="ko-KR" altLang="en-US"/>
              <a:t>문장 블록 </a:t>
            </a:r>
            <a:r>
              <a:rPr lang="en-US" altLang="ko-KR"/>
              <a:t>1}</a:t>
            </a:r>
            <a:r>
              <a:rPr lang="ko-KR" altLang="en-US"/>
              <a:t>안의 문장을 수행 </a:t>
            </a:r>
          </a:p>
          <a:p>
            <a:pPr lvl="2" eaLnBrk="1" hangingPunct="1"/>
            <a:r>
              <a:rPr lang="ko-KR" altLang="en-US"/>
              <a:t>참이 아니면 </a:t>
            </a:r>
            <a:r>
              <a:rPr lang="en-US" altLang="ko-KR"/>
              <a:t>{</a:t>
            </a:r>
            <a:r>
              <a:rPr lang="ko-KR" altLang="en-US"/>
              <a:t>문장 블록 </a:t>
            </a:r>
            <a:r>
              <a:rPr lang="en-US" altLang="ko-KR"/>
              <a:t>2}</a:t>
            </a:r>
            <a:r>
              <a:rPr lang="ko-KR" altLang="en-US"/>
              <a:t>안의 문장을 수행 </a:t>
            </a:r>
          </a:p>
        </p:txBody>
      </p:sp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65288"/>
            <a:ext cx="6800850" cy="141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34821" name="직사각형 4"/>
          <p:cNvSpPr>
            <a:spLocks noChangeArrowheads="1"/>
          </p:cNvSpPr>
          <p:nvPr/>
        </p:nvSpPr>
        <p:spPr bwMode="auto">
          <a:xfrm>
            <a:off x="1296988" y="1665288"/>
            <a:ext cx="6799262" cy="141763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4</a:t>
            </a:r>
            <a:r>
              <a:rPr lang="ko-KR" altLang="en-US"/>
              <a:t>장 프로그램 제어문</a:t>
            </a:r>
            <a:r>
              <a:rPr lang="en-US" altLang="ko-KR"/>
              <a:t>(3. for</a:t>
            </a:r>
            <a:r>
              <a:rPr lang="ko-KR" altLang="en-US"/>
              <a:t>문 </a:t>
            </a:r>
            <a:r>
              <a:rPr lang="en-US" altLang="ko-KR"/>
              <a:t>)</a:t>
            </a:r>
          </a:p>
        </p:txBody>
      </p:sp>
      <p:sp>
        <p:nvSpPr>
          <p:cNvPr id="35843" name="AutoShap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가장 많이 사용하는 제어문 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초기식 </a:t>
            </a:r>
            <a:r>
              <a:rPr lang="en-US" altLang="ko-KR" sz="2000"/>
              <a:t>: for</a:t>
            </a:r>
            <a:r>
              <a:rPr lang="ko-KR" altLang="en-US" sz="2000"/>
              <a:t>문 수행되기 전에 지정하는 초기 조건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조건식 </a:t>
            </a:r>
            <a:r>
              <a:rPr lang="en-US" altLang="ko-KR" sz="2000"/>
              <a:t>: for</a:t>
            </a:r>
            <a:r>
              <a:rPr lang="ko-KR" altLang="en-US" sz="2000"/>
              <a:t>문을 종료하는 조건을 나타낸 것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증감식 </a:t>
            </a:r>
            <a:r>
              <a:rPr lang="en-US" altLang="ko-KR" sz="2000"/>
              <a:t>: </a:t>
            </a:r>
            <a:r>
              <a:rPr lang="ko-KR" altLang="en-US" sz="2000"/>
              <a:t>문장블록을 수행한 후 조건식을 검사하는 변수의 값을 변경하기 위해 사용하는 수식으로서 주로 변수 값을 증가시키거나 감소시키는데 사용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문장블록 </a:t>
            </a:r>
            <a:r>
              <a:rPr lang="en-US" altLang="ko-KR" sz="2000"/>
              <a:t>: </a:t>
            </a:r>
            <a:r>
              <a:rPr lang="ko-KR" altLang="en-US" sz="2000"/>
              <a:t>조건식의 논리가 참일 경우 수행되는 명령어 블록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ko-KR" altLang="en-US" sz="2000"/>
              <a:t>                </a:t>
            </a:r>
            <a:r>
              <a:rPr lang="en-US" altLang="ko-KR" sz="2000"/>
              <a:t>{</a:t>
            </a:r>
            <a:r>
              <a:rPr lang="en-US" altLang="ko-KR" sz="2000">
                <a:latin typeface="Arial" panose="020B0604020202020204" pitchFamily="34" charset="0"/>
              </a:rPr>
              <a:t> </a:t>
            </a:r>
            <a:r>
              <a:rPr lang="en-US" altLang="ko-KR" sz="2000"/>
              <a:t> }</a:t>
            </a:r>
            <a:r>
              <a:rPr lang="ko-KR" altLang="en-US" sz="2000"/>
              <a:t>안에 하나의 문장만 있다면 </a:t>
            </a:r>
            <a:r>
              <a:rPr lang="en-US" altLang="ko-KR" sz="2000"/>
              <a:t>{</a:t>
            </a:r>
            <a:r>
              <a:rPr lang="en-US" altLang="ko-KR" sz="2000">
                <a:latin typeface="Arial" panose="020B0604020202020204" pitchFamily="34" charset="0"/>
              </a:rPr>
              <a:t> </a:t>
            </a:r>
            <a:r>
              <a:rPr lang="en-US" altLang="ko-KR" sz="2000"/>
              <a:t> }</a:t>
            </a:r>
            <a:r>
              <a:rPr lang="ko-KR" altLang="en-US" sz="2000"/>
              <a:t>를 생략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57338"/>
            <a:ext cx="436245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35845" name="직사각형 4"/>
          <p:cNvSpPr>
            <a:spLocks noChangeArrowheads="1"/>
          </p:cNvSpPr>
          <p:nvPr/>
        </p:nvSpPr>
        <p:spPr bwMode="auto">
          <a:xfrm>
            <a:off x="1333500" y="1557338"/>
            <a:ext cx="4425950" cy="20478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4</a:t>
            </a:r>
            <a:r>
              <a:rPr lang="ko-KR" altLang="en-US"/>
              <a:t>장 프로그램 제어문</a:t>
            </a:r>
            <a:r>
              <a:rPr lang="en-US" altLang="ko-KR"/>
              <a:t>(3. for</a:t>
            </a:r>
            <a:r>
              <a:rPr lang="ko-KR" altLang="en-US"/>
              <a:t>문 </a:t>
            </a:r>
            <a:r>
              <a:rPr lang="en-US" altLang="ko-KR"/>
              <a:t>)</a:t>
            </a:r>
          </a:p>
        </p:txBody>
      </p:sp>
      <p:sp>
        <p:nvSpPr>
          <p:cNvPr id="36867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81000" y="944563"/>
            <a:ext cx="7899412" cy="5375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sz="2200" dirty="0"/>
              <a:t>사용시 주의할 점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 dirty="0">
                <a:latin typeface="Arial" panose="020B0604020202020204" pitchFamily="34" charset="0"/>
              </a:rPr>
              <a:t> </a:t>
            </a:r>
            <a:r>
              <a:rPr lang="en-US" altLang="ko-KR" sz="2000" dirty="0"/>
              <a:t>1) </a:t>
            </a:r>
            <a:r>
              <a:rPr lang="ko-KR" altLang="en-US" sz="2000" dirty="0"/>
              <a:t>한꺼번에 두개 이상 변수를 초기화하거나 증감연산자를 사용 가능 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 sz="1800" dirty="0"/>
              <a:t>증감 연산자도 </a:t>
            </a:r>
            <a:r>
              <a:rPr lang="en-US" altLang="ko-KR" sz="1800" dirty="0"/>
              <a:t>++</a:t>
            </a:r>
            <a:r>
              <a:rPr lang="ko-KR" altLang="en-US" sz="1800" dirty="0"/>
              <a:t>나 </a:t>
            </a:r>
            <a:r>
              <a:rPr lang="en-US" altLang="ko-KR" sz="1800" dirty="0"/>
              <a:t>--</a:t>
            </a:r>
            <a:r>
              <a:rPr lang="ko-KR" altLang="en-US" sz="1800" dirty="0"/>
              <a:t>뿐만 아니라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+=2</a:t>
            </a:r>
            <a:r>
              <a:rPr lang="ko-KR" altLang="en-US" sz="1800" dirty="0"/>
              <a:t>나 </a:t>
            </a:r>
            <a:r>
              <a:rPr lang="en-US" altLang="ko-KR" sz="1800" dirty="0"/>
              <a:t>j-=3, ++k</a:t>
            </a:r>
            <a:r>
              <a:rPr lang="ko-KR" altLang="en-US" sz="1800" dirty="0"/>
              <a:t>와 같이 사용 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 sz="1800" dirty="0"/>
              <a:t>증감 연산자는 숫자 혹은 문자를 증감 연산자로 사용할 수 있음 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 sz="1800" dirty="0"/>
              <a:t> </a:t>
            </a:r>
            <a:r>
              <a:rPr lang="en-US" altLang="ko-KR" sz="1800" dirty="0"/>
              <a:t>for(</a:t>
            </a:r>
            <a:r>
              <a:rPr lang="en-US" altLang="ko-KR" sz="1800" dirty="0" err="1"/>
              <a:t>i</a:t>
            </a:r>
            <a:r>
              <a:rPr lang="en-US" altLang="ko-KR" sz="1800" dirty="0"/>
              <a:t>=0, j=0;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&lt;10 ;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++, j+=2) {</a:t>
            </a:r>
            <a:r>
              <a:rPr lang="en-US" altLang="ko-KR" sz="1800" dirty="0">
                <a:latin typeface="Arial" panose="020B0604020202020204" pitchFamily="34" charset="0"/>
              </a:rPr>
              <a:t> </a:t>
            </a:r>
            <a:r>
              <a:rPr lang="en-US" altLang="ko-KR" sz="1800" dirty="0"/>
              <a:t> ...</a:t>
            </a:r>
            <a:r>
              <a:rPr lang="en-US" altLang="ko-KR" sz="1800" dirty="0">
                <a:latin typeface="Arial" panose="020B0604020202020204" pitchFamily="34" charset="0"/>
              </a:rPr>
              <a:t> </a:t>
            </a:r>
            <a:r>
              <a:rPr lang="en-US" altLang="ko-KR" sz="1800" dirty="0"/>
              <a:t> } 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altLang="ko-KR" sz="2200" dirty="0"/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/>
              <a:t>2) </a:t>
            </a:r>
            <a:r>
              <a:rPr lang="ko-KR" altLang="en-US" sz="2000" dirty="0" err="1"/>
              <a:t>초기식</a:t>
            </a:r>
            <a:r>
              <a:rPr lang="en-US" altLang="ko-KR" sz="2000" dirty="0"/>
              <a:t>, </a:t>
            </a:r>
            <a:r>
              <a:rPr lang="ko-KR" altLang="en-US" sz="2000" dirty="0"/>
              <a:t>조건식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증감식</a:t>
            </a:r>
            <a:r>
              <a:rPr lang="ko-KR" altLang="en-US" sz="2000" dirty="0"/>
              <a:t> 중에서 하나</a:t>
            </a:r>
            <a:r>
              <a:rPr lang="en-US" altLang="ko-KR" sz="2000" dirty="0"/>
              <a:t>, </a:t>
            </a:r>
            <a:r>
              <a:rPr lang="ko-KR" altLang="en-US" sz="2000" dirty="0"/>
              <a:t>둘</a:t>
            </a:r>
            <a:r>
              <a:rPr lang="en-US" altLang="ko-KR" sz="2000" dirty="0"/>
              <a:t>, </a:t>
            </a:r>
            <a:r>
              <a:rPr lang="ko-KR" altLang="en-US" sz="2000" dirty="0"/>
              <a:t>세개의 식을 모두 생략 가능</a:t>
            </a:r>
            <a:r>
              <a:rPr lang="en-US" altLang="ko-KR" sz="2000" dirty="0"/>
              <a:t>,</a:t>
            </a:r>
            <a:r>
              <a:rPr lang="en-US" altLang="ko-KR" sz="2000" dirty="0">
                <a:latin typeface="Arial" panose="020B0604020202020204" pitchFamily="34" charset="0"/>
              </a:rPr>
              <a:t> </a:t>
            </a:r>
            <a:r>
              <a:rPr lang="ko-KR" altLang="en-US" sz="2000" dirty="0"/>
              <a:t>그러나 세미콜론</a:t>
            </a:r>
            <a:r>
              <a:rPr lang="en-US" altLang="ko-KR" sz="2000" dirty="0"/>
              <a:t>(;)</a:t>
            </a:r>
            <a:r>
              <a:rPr lang="ko-KR" altLang="en-US" sz="2000" dirty="0"/>
              <a:t>은 생략할 수 없으며 두 개가 모두 있어야 함 </a:t>
            </a:r>
            <a:br>
              <a:rPr lang="ko-KR" altLang="en-US" sz="2000" dirty="0"/>
            </a:br>
            <a:endParaRPr lang="ko-KR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/>
              <a:t>3) </a:t>
            </a:r>
            <a:r>
              <a:rPr lang="ko-KR" altLang="en-US" sz="2000" dirty="0"/>
              <a:t>단</a:t>
            </a:r>
            <a:r>
              <a:rPr lang="en-US" altLang="ko-KR" sz="2000" dirty="0"/>
              <a:t>, </a:t>
            </a:r>
            <a:r>
              <a:rPr lang="ko-KR" altLang="en-US" sz="2000" dirty="0"/>
              <a:t>조건식이 없으면 조건식은 항상 참으로 인식되어 무한 반복 수행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ko-KR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/>
              <a:t>4) </a:t>
            </a:r>
            <a:r>
              <a:rPr lang="ko-KR" altLang="en-US" sz="2000" dirty="0"/>
              <a:t>조건식이나 </a:t>
            </a:r>
            <a:r>
              <a:rPr lang="ko-KR" altLang="en-US" sz="2000" dirty="0" err="1"/>
              <a:t>증감식을</a:t>
            </a:r>
            <a:r>
              <a:rPr lang="ko-KR" altLang="en-US" sz="2000" dirty="0"/>
              <a:t> 잘못 작성하게 되면 무한 반복 상태에 빠질 수 </a:t>
            </a:r>
            <a:r>
              <a:rPr lang="ko-KR" altLang="en-US" sz="2000" dirty="0">
                <a:latin typeface="Arial" panose="020B0604020202020204" pitchFamily="34" charset="0"/>
              </a:rPr>
              <a:t> </a:t>
            </a:r>
            <a:r>
              <a:rPr lang="ko-KR" altLang="en-US" sz="2000" dirty="0"/>
              <a:t>도 있으므로 세심한 주의가 필요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4</a:t>
            </a:r>
            <a:r>
              <a:rPr lang="ko-KR" altLang="en-US"/>
              <a:t>장 프로그램 제어문</a:t>
            </a:r>
            <a:r>
              <a:rPr lang="en-US" altLang="ko-KR"/>
              <a:t>(4. while</a:t>
            </a:r>
            <a:r>
              <a:rPr lang="ko-KR" altLang="en-US"/>
              <a:t>문 </a:t>
            </a:r>
            <a:r>
              <a:rPr lang="en-US" altLang="ko-KR"/>
              <a:t>)</a:t>
            </a:r>
          </a:p>
        </p:txBody>
      </p:sp>
      <p:sp>
        <p:nvSpPr>
          <p:cNvPr id="37891" name="AutoShap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ko-KR" altLang="en-US"/>
              <a:t>조건식이 참일 경우 문장을 반복적으로 처리</a:t>
            </a:r>
          </a:p>
          <a:p>
            <a:pPr lvl="1" eaLnBrk="1" hangingPunct="1"/>
            <a:r>
              <a:rPr lang="ko-KR" altLang="en-US"/>
              <a:t>반복해야할 횟수를 잘 알지 못하는 경우 어느 특정 조건에서 반복을 중단해야 할 경우에 사용  </a:t>
            </a: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528888"/>
            <a:ext cx="36957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2492375"/>
            <a:ext cx="3238500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37894" name="직사각형 5"/>
          <p:cNvSpPr>
            <a:spLocks noChangeArrowheads="1"/>
          </p:cNvSpPr>
          <p:nvPr/>
        </p:nvSpPr>
        <p:spPr bwMode="auto">
          <a:xfrm>
            <a:off x="1403350" y="2528888"/>
            <a:ext cx="3492500" cy="2514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3" name="AutoShape 3"/>
          <p:cNvSpPr>
            <a:spLocks noChangeArrowheads="1"/>
          </p:cNvSpPr>
          <p:nvPr/>
        </p:nvSpPr>
        <p:spPr bwMode="auto">
          <a:xfrm>
            <a:off x="1187450" y="3573463"/>
            <a:ext cx="6629400" cy="1600200"/>
          </a:xfrm>
          <a:prstGeom prst="ellipseRibbon2">
            <a:avLst>
              <a:gd name="adj1" fmla="val 46727"/>
              <a:gd name="adj2" fmla="val 71204"/>
              <a:gd name="adj3" fmla="val 34759"/>
            </a:avLst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/>
          <a:p>
            <a:pPr algn="ctr" eaLnBrk="1" hangingPunct="1"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제 </a:t>
            </a:r>
            <a:r>
              <a:rPr kumimoji="0" lang="en-US" altLang="ko-KR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5 </a:t>
            </a: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장   함 수</a:t>
            </a:r>
          </a:p>
        </p:txBody>
      </p:sp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323850" y="1412875"/>
            <a:ext cx="83820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(</a:t>
            </a:r>
            <a:r>
              <a:rPr kumimoji="0" lang="ko-KR" altLang="en-US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핵심</a:t>
            </a: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)</a:t>
            </a:r>
            <a:r>
              <a:rPr kumimoji="0" lang="en-US" altLang="ko-KR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 C </a:t>
            </a:r>
            <a:r>
              <a:rPr kumimoji="0" lang="ko-KR" altLang="en-US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언어 및 실습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5</a:t>
            </a:r>
            <a:r>
              <a:rPr lang="ko-KR" altLang="en-US"/>
              <a:t>장 함수 </a:t>
            </a:r>
            <a:r>
              <a:rPr lang="en-US" altLang="ko-KR"/>
              <a:t>(2. </a:t>
            </a:r>
            <a:r>
              <a:rPr lang="ko-KR" altLang="en-US"/>
              <a:t>함수의 작성과 구조</a:t>
            </a:r>
            <a:r>
              <a:rPr lang="en-US" altLang="ko-KR"/>
              <a:t>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ko-KR" altLang="en-US"/>
              <a:t>함수는 헤더</a:t>
            </a:r>
            <a:r>
              <a:rPr lang="en-US" altLang="ko-KR"/>
              <a:t>(header)</a:t>
            </a:r>
            <a:r>
              <a:rPr lang="ko-KR" altLang="en-US"/>
              <a:t>부분과 몸체</a:t>
            </a:r>
            <a:r>
              <a:rPr lang="en-US" altLang="ko-KR"/>
              <a:t>(body)</a:t>
            </a:r>
            <a:r>
              <a:rPr lang="ko-KR" altLang="en-US"/>
              <a:t>부분으로 나누어 구성 </a:t>
            </a:r>
          </a:p>
          <a:p>
            <a:pPr lvl="1" eaLnBrk="1" hangingPunct="1"/>
            <a:r>
              <a:rPr lang="ko-KR" altLang="en-US"/>
              <a:t>호출 함수</a:t>
            </a:r>
            <a:r>
              <a:rPr lang="en-US" altLang="ko-KR"/>
              <a:t>(calling function) : </a:t>
            </a:r>
            <a:r>
              <a:rPr lang="ko-KR" altLang="en-US"/>
              <a:t>부르는 함수 </a:t>
            </a:r>
          </a:p>
          <a:p>
            <a:pPr lvl="1" eaLnBrk="1" hangingPunct="1"/>
            <a:r>
              <a:rPr lang="ko-KR" altLang="en-US"/>
              <a:t>피호출 함수</a:t>
            </a:r>
            <a:r>
              <a:rPr lang="en-US" altLang="ko-KR"/>
              <a:t>(called function) : </a:t>
            </a:r>
            <a:r>
              <a:rPr lang="ko-KR" altLang="en-US"/>
              <a:t>호출당하는 함수 </a:t>
            </a:r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3105150"/>
            <a:ext cx="4581525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5</a:t>
            </a:r>
            <a:r>
              <a:rPr lang="ko-KR" altLang="en-US"/>
              <a:t>장 함수 </a:t>
            </a:r>
            <a:r>
              <a:rPr lang="en-US" altLang="ko-KR"/>
              <a:t>(2. </a:t>
            </a:r>
            <a:r>
              <a:rPr lang="ko-KR" altLang="en-US"/>
              <a:t>함수의 작성과 구조</a:t>
            </a:r>
            <a:r>
              <a:rPr lang="en-US" altLang="ko-KR"/>
              <a:t>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</a:pPr>
            <a:endParaRPr lang="en-US" altLang="ko-KR" sz="2000"/>
          </a:p>
          <a:p>
            <a:pPr lvl="1" eaLnBrk="1" hangingPunct="1">
              <a:lnSpc>
                <a:spcPct val="80000"/>
              </a:lnSpc>
            </a:pPr>
            <a:endParaRPr lang="en-US" altLang="ko-KR" sz="2000"/>
          </a:p>
          <a:p>
            <a:pPr lvl="1" eaLnBrk="1" hangingPunct="1">
              <a:lnSpc>
                <a:spcPct val="80000"/>
              </a:lnSpc>
            </a:pPr>
            <a:endParaRPr lang="en-US" altLang="ko-KR" sz="2000"/>
          </a:p>
          <a:p>
            <a:pPr lvl="1" eaLnBrk="1" hangingPunct="1">
              <a:lnSpc>
                <a:spcPct val="80000"/>
              </a:lnSpc>
            </a:pPr>
            <a:endParaRPr lang="en-US" altLang="ko-KR" sz="2000"/>
          </a:p>
          <a:p>
            <a:pPr lvl="1" eaLnBrk="1" hangingPunct="1">
              <a:lnSpc>
                <a:spcPct val="80000"/>
              </a:lnSpc>
            </a:pPr>
            <a:r>
              <a:rPr lang="en-US" altLang="ko-KR" sz="2000">
                <a:solidFill>
                  <a:srgbClr val="FF0000"/>
                </a:solidFill>
              </a:rPr>
              <a:t>① </a:t>
            </a:r>
            <a:r>
              <a:rPr lang="ko-KR" altLang="en-US" sz="2000">
                <a:solidFill>
                  <a:srgbClr val="FF0000"/>
                </a:solidFill>
              </a:rPr>
              <a:t>함수의 자료형 </a:t>
            </a:r>
            <a:r>
              <a:rPr lang="en-US" altLang="ko-KR" sz="2000"/>
              <a:t>: </a:t>
            </a:r>
            <a:r>
              <a:rPr lang="ko-KR" altLang="en-US" sz="2000"/>
              <a:t>함수에 의해 계산되거나 저장된 값을 되돌려 줄 때 자료 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800"/>
              <a:t>피호출된 함수가 되돌려줄 값이 정수 값이면 </a:t>
            </a:r>
            <a:r>
              <a:rPr lang="en-US" altLang="ko-KR" sz="1800"/>
              <a:t>int </a:t>
            </a:r>
            <a:r>
              <a:rPr lang="ko-KR" altLang="en-US" sz="1800"/>
              <a:t>형으로 선언 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800"/>
              <a:t>함수의 자료형이 필요하지 않을 경우에는 </a:t>
            </a:r>
            <a:r>
              <a:rPr lang="en-US" altLang="ko-KR" sz="1800"/>
              <a:t>void</a:t>
            </a:r>
            <a:r>
              <a:rPr lang="ko-KR" altLang="en-US" sz="1800"/>
              <a:t>하고 선언 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2000">
                <a:solidFill>
                  <a:srgbClr val="FF0000"/>
                </a:solidFill>
                <a:latin typeface="Arial" panose="020B0604020202020204" pitchFamily="34" charset="0"/>
              </a:rPr>
              <a:t> </a:t>
            </a:r>
            <a:r>
              <a:rPr lang="ko-KR" altLang="en-US" sz="2000">
                <a:solidFill>
                  <a:srgbClr val="FF0000"/>
                </a:solidFill>
              </a:rPr>
              <a:t>② 함수명 </a:t>
            </a:r>
            <a:r>
              <a:rPr lang="en-US" altLang="ko-KR" sz="2000">
                <a:solidFill>
                  <a:srgbClr val="FF0000"/>
                </a:solidFill>
              </a:rPr>
              <a:t>: </a:t>
            </a:r>
            <a:r>
              <a:rPr lang="ko-KR" altLang="en-US" sz="2000"/>
              <a:t>변수명과 비슷한 방법으로 이름을 지정 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800"/>
              <a:t>함수의 기능을 표시할 수 있는 이름을 많이 사용 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800"/>
              <a:t>동일한 함수명은 한 프로그램내에서 단 한번만 사용 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2000">
                <a:solidFill>
                  <a:srgbClr val="FF0000"/>
                </a:solidFill>
                <a:latin typeface="Arial" panose="020B0604020202020204" pitchFamily="34" charset="0"/>
              </a:rPr>
              <a:t> </a:t>
            </a:r>
            <a:r>
              <a:rPr lang="ko-KR" altLang="en-US" sz="2000">
                <a:solidFill>
                  <a:srgbClr val="FF0000"/>
                </a:solidFill>
              </a:rPr>
              <a:t>③ 매개변수 목록 </a:t>
            </a:r>
            <a:r>
              <a:rPr lang="en-US" altLang="ko-KR" sz="2000">
                <a:solidFill>
                  <a:srgbClr val="FF0000"/>
                </a:solidFill>
              </a:rPr>
              <a:t>: </a:t>
            </a:r>
            <a:r>
              <a:rPr lang="ko-KR" altLang="en-US" sz="2000"/>
              <a:t>함수를 호출하는 함수가 다른 함수를 부를 때 전달하는 변수 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800"/>
              <a:t>호출하는 함수가 넘겨주는 값은 선언되는 자료형으로서 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800"/>
              <a:t>상수 값이나 주소번지를 넘겨준다</a:t>
            </a:r>
            <a:r>
              <a:rPr lang="en-US" altLang="ko-KR" sz="1800"/>
              <a:t>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000">
                <a:solidFill>
                  <a:srgbClr val="FF0000"/>
                </a:solidFill>
                <a:latin typeface="Arial" panose="020B0604020202020204" pitchFamily="34" charset="0"/>
              </a:rPr>
              <a:t>  </a:t>
            </a:r>
            <a:r>
              <a:rPr lang="en-US" altLang="ko-KR" sz="2000">
                <a:solidFill>
                  <a:srgbClr val="FF0000"/>
                </a:solidFill>
              </a:rPr>
              <a:t>④ </a:t>
            </a:r>
            <a:r>
              <a:rPr lang="ko-KR" altLang="en-US" sz="2000">
                <a:solidFill>
                  <a:srgbClr val="FF0000"/>
                </a:solidFill>
              </a:rPr>
              <a:t>호출당하는 함수 </a:t>
            </a:r>
            <a:r>
              <a:rPr lang="en-US" altLang="ko-KR" sz="2000"/>
              <a:t>: </a:t>
            </a:r>
            <a:r>
              <a:rPr lang="ko-KR" altLang="en-US" sz="2000"/>
              <a:t>반드시 </a:t>
            </a:r>
            <a:r>
              <a:rPr lang="en-US" altLang="ko-KR" sz="2000"/>
              <a:t>{ </a:t>
            </a:r>
            <a:r>
              <a:rPr lang="ko-KR" altLang="en-US" sz="2000"/>
              <a:t>로 시작해서 </a:t>
            </a:r>
            <a:r>
              <a:rPr lang="en-US" altLang="ko-KR" sz="2000"/>
              <a:t>}</a:t>
            </a:r>
            <a:r>
              <a:rPr lang="ko-KR" altLang="en-US" sz="2000"/>
              <a:t>로 마치는 구조 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800"/>
              <a:t>그 함수내에서 사용하는 지역 변수 선언</a:t>
            </a:r>
            <a:r>
              <a:rPr lang="en-US" altLang="ko-KR" sz="1800"/>
              <a:t>, </a:t>
            </a:r>
            <a:r>
              <a:rPr lang="ko-KR" altLang="en-US" sz="1800"/>
              <a:t>여러 가지의 문장들 포함 </a:t>
            </a:r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052513"/>
            <a:ext cx="2951163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5</a:t>
            </a:r>
            <a:r>
              <a:rPr lang="ko-KR" altLang="en-US"/>
              <a:t>장 함수 </a:t>
            </a:r>
            <a:r>
              <a:rPr lang="en-US" altLang="ko-KR"/>
              <a:t>(2. </a:t>
            </a:r>
            <a:r>
              <a:rPr lang="ko-KR" altLang="en-US"/>
              <a:t>함수의 작성과 구조</a:t>
            </a:r>
            <a:r>
              <a:rPr lang="en-US" altLang="ko-KR"/>
              <a:t>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피 호출 함수의 </a:t>
            </a:r>
            <a:r>
              <a:rPr lang="en-US" altLang="ko-KR" dirty="0"/>
              <a:t>return( )</a:t>
            </a:r>
            <a:r>
              <a:rPr lang="ko-KR" altLang="en-US" dirty="0"/>
              <a:t>문과 함수의 </a:t>
            </a:r>
            <a:r>
              <a:rPr lang="ko-KR" altLang="en-US" dirty="0" err="1"/>
              <a:t>자료형</a:t>
            </a:r>
            <a:r>
              <a:rPr lang="ko-KR" altLang="en-US" dirty="0"/>
              <a:t> </a:t>
            </a:r>
          </a:p>
          <a:p>
            <a:pPr lvl="2" eaLnBrk="1" hangingPunct="1">
              <a:defRPr/>
            </a:pPr>
            <a:r>
              <a:rPr lang="ko-KR" altLang="en-US" dirty="0">
                <a:solidFill>
                  <a:srgbClr val="FF0000"/>
                </a:solidFill>
              </a:rPr>
              <a:t>① 하나의 함수를 종료할 경우 </a:t>
            </a:r>
            <a:r>
              <a:rPr lang="en-US" altLang="ko-KR" dirty="0">
                <a:solidFill>
                  <a:srgbClr val="FF0000"/>
                </a:solidFill>
              </a:rPr>
              <a:t>return</a:t>
            </a:r>
            <a:r>
              <a:rPr lang="ko-KR" altLang="en-US" dirty="0">
                <a:solidFill>
                  <a:srgbClr val="FF0000"/>
                </a:solidFill>
              </a:rPr>
              <a:t>문이라는 것을 사용 </a:t>
            </a:r>
          </a:p>
          <a:p>
            <a:pPr lvl="2" eaLnBrk="1" hangingPunct="1">
              <a:defRPr/>
            </a:pPr>
            <a:r>
              <a:rPr lang="ko-KR" altLang="en-US" dirty="0">
                <a:solidFill>
                  <a:srgbClr val="FF0000"/>
                </a:solidFill>
              </a:rPr>
              <a:t>② </a:t>
            </a:r>
            <a:r>
              <a:rPr lang="en-US" altLang="ko-KR" dirty="0">
                <a:solidFill>
                  <a:srgbClr val="FF0000"/>
                </a:solidFill>
              </a:rPr>
              <a:t>return</a:t>
            </a:r>
            <a:r>
              <a:rPr lang="ko-KR" altLang="en-US" dirty="0">
                <a:solidFill>
                  <a:srgbClr val="FF0000"/>
                </a:solidFill>
              </a:rPr>
              <a:t>문은 맨 마지막 줄에 올 필요는 없으며 돌아가고 싶은 곳에 위치 </a:t>
            </a:r>
          </a:p>
          <a:p>
            <a:pPr lvl="2" eaLnBrk="1" hangingPunct="1">
              <a:defRPr/>
            </a:pPr>
            <a:r>
              <a:rPr lang="ko-KR" altLang="en-US" dirty="0"/>
              <a:t>③ </a:t>
            </a:r>
            <a:r>
              <a:rPr lang="en-US" altLang="ko-KR" dirty="0"/>
              <a:t>return</a:t>
            </a:r>
            <a:r>
              <a:rPr lang="ko-KR" altLang="en-US" dirty="0"/>
              <a:t>문은 두 가지 형태 </a:t>
            </a:r>
          </a:p>
          <a:p>
            <a:pPr lvl="3" eaLnBrk="1" hangingPunct="1">
              <a:defRPr/>
            </a:pPr>
            <a:r>
              <a:rPr lang="en-US" altLang="ko-KR" dirty="0"/>
              <a:t>return;</a:t>
            </a:r>
            <a:r>
              <a:rPr lang="ko-KR" altLang="en-US" dirty="0"/>
              <a:t>으로 되어 있으면 반환 값</a:t>
            </a:r>
            <a:r>
              <a:rPr lang="en-US" altLang="ko-KR" dirty="0"/>
              <a:t>(return value)</a:t>
            </a:r>
            <a:r>
              <a:rPr lang="ko-KR" altLang="en-US" dirty="0"/>
              <a:t>이 없음 </a:t>
            </a:r>
          </a:p>
          <a:p>
            <a:pPr lvl="3" eaLnBrk="1" hangingPunct="1">
              <a:buFont typeface="Wingdings" panose="05000000000000000000" pitchFamily="2" charset="2"/>
              <a:buNone/>
              <a:defRPr/>
            </a:pPr>
            <a:r>
              <a:rPr lang="ko-KR" altLang="en-US" dirty="0"/>
              <a:t>  </a:t>
            </a:r>
            <a:r>
              <a:rPr lang="ko-KR" altLang="en-US" dirty="0">
                <a:latin typeface="Arial" charset="0"/>
              </a:rPr>
              <a:t> </a:t>
            </a:r>
            <a:r>
              <a:rPr lang="en-US" altLang="ko-KR" dirty="0"/>
              <a:t>=&gt; </a:t>
            </a:r>
            <a:r>
              <a:rPr lang="ko-KR" altLang="en-US" dirty="0"/>
              <a:t>피호출 함수의 </a:t>
            </a:r>
            <a:r>
              <a:rPr lang="ko-KR" altLang="en-US" dirty="0" err="1"/>
              <a:t>호출명</a:t>
            </a:r>
            <a:r>
              <a:rPr lang="ko-KR" altLang="en-US" dirty="0"/>
              <a:t> 앞에는 </a:t>
            </a:r>
            <a:r>
              <a:rPr lang="en-US" altLang="ko-KR" dirty="0"/>
              <a:t>void</a:t>
            </a:r>
            <a:r>
              <a:rPr lang="ko-KR" altLang="en-US" dirty="0"/>
              <a:t>형으로 선언 </a:t>
            </a:r>
          </a:p>
          <a:p>
            <a:pPr lvl="3" eaLnBrk="1" hangingPunct="1">
              <a:defRPr/>
            </a:pPr>
            <a:r>
              <a:rPr lang="en-US" altLang="ko-KR" dirty="0">
                <a:solidFill>
                  <a:srgbClr val="FF0000"/>
                </a:solidFill>
              </a:rPr>
              <a:t>return</a:t>
            </a:r>
            <a:r>
              <a:rPr lang="ko-KR" altLang="en-US" dirty="0">
                <a:solidFill>
                  <a:srgbClr val="FF0000"/>
                </a:solidFill>
              </a:rPr>
              <a:t>문 안에 반환 값이 포함되어 </a:t>
            </a:r>
            <a:r>
              <a:rPr lang="en-US" altLang="ko-KR" dirty="0">
                <a:solidFill>
                  <a:srgbClr val="FF0000"/>
                </a:solidFill>
              </a:rPr>
              <a:t>return(</a:t>
            </a:r>
            <a:r>
              <a:rPr lang="ko-KR" altLang="en-US" dirty="0">
                <a:solidFill>
                  <a:srgbClr val="FF0000"/>
                </a:solidFill>
              </a:rPr>
              <a:t>반환 값</a:t>
            </a:r>
            <a:r>
              <a:rPr lang="en-US" altLang="ko-KR" dirty="0">
                <a:solidFill>
                  <a:srgbClr val="FF0000"/>
                </a:solidFill>
              </a:rPr>
              <a:t>);</a:t>
            </a:r>
            <a:r>
              <a:rPr lang="ko-KR" altLang="en-US" dirty="0">
                <a:solidFill>
                  <a:srgbClr val="FF0000"/>
                </a:solidFill>
              </a:rPr>
              <a:t>와 같이 사용 </a:t>
            </a:r>
          </a:p>
          <a:p>
            <a:pPr marL="1371600" lvl="3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dirty="0">
                <a:solidFill>
                  <a:srgbClr val="FF0000"/>
                </a:solidFill>
                <a:latin typeface="Arial" charset="0"/>
              </a:rPr>
              <a:t>    </a:t>
            </a:r>
            <a:r>
              <a:rPr lang="en-US" altLang="ko-KR" dirty="0">
                <a:solidFill>
                  <a:srgbClr val="FF0000"/>
                </a:solidFill>
              </a:rPr>
              <a:t>=&gt; </a:t>
            </a:r>
            <a:r>
              <a:rPr lang="ko-KR" altLang="en-US" dirty="0">
                <a:solidFill>
                  <a:srgbClr val="FF0000"/>
                </a:solidFill>
              </a:rPr>
              <a:t>피호출 함수의 </a:t>
            </a:r>
            <a:r>
              <a:rPr lang="ko-KR" altLang="en-US" dirty="0" err="1">
                <a:solidFill>
                  <a:srgbClr val="FF0000"/>
                </a:solidFill>
              </a:rPr>
              <a:t>호출명</a:t>
            </a:r>
            <a:r>
              <a:rPr lang="ko-KR" altLang="en-US" dirty="0">
                <a:solidFill>
                  <a:srgbClr val="FF0000"/>
                </a:solidFill>
              </a:rPr>
              <a:t> 앞에는 반환 값의 </a:t>
            </a:r>
            <a:r>
              <a:rPr lang="ko-KR" altLang="en-US" dirty="0" err="1">
                <a:solidFill>
                  <a:srgbClr val="FF0000"/>
                </a:solidFill>
              </a:rPr>
              <a:t>자료형이</a:t>
            </a:r>
            <a:r>
              <a:rPr lang="ko-KR" altLang="en-US" dirty="0">
                <a:solidFill>
                  <a:srgbClr val="FF0000"/>
                </a:solidFill>
              </a:rPr>
              <a:t> 선언되어야 함 </a:t>
            </a:r>
            <a:endParaRPr lang="en-US" altLang="ko-KR" dirty="0">
              <a:solidFill>
                <a:srgbClr val="FF0000"/>
              </a:solidFill>
            </a:endParaRPr>
          </a:p>
          <a:p>
            <a:pPr marL="1371600" lvl="3" indent="0" eaLnBrk="1" hangingPunct="1">
              <a:buFont typeface="Wingdings" panose="05000000000000000000" pitchFamily="2" charset="2"/>
              <a:buNone/>
              <a:defRPr/>
            </a:pPr>
            <a:endParaRPr lang="ko-KR" altLang="en-US" dirty="0">
              <a:solidFill>
                <a:srgbClr val="FF0000"/>
              </a:solidFill>
            </a:endParaRPr>
          </a:p>
          <a:p>
            <a:pPr lvl="3" eaLnBrk="1" hangingPunct="1">
              <a:defRPr/>
            </a:pPr>
            <a:r>
              <a:rPr lang="ko-KR" altLang="en-US" dirty="0"/>
              <a:t>반환되는 값에는 수식을 사용해도 되지만 </a:t>
            </a:r>
            <a:r>
              <a:rPr lang="ko-KR" altLang="en-US" dirty="0" err="1"/>
              <a:t>상수값이라야</a:t>
            </a:r>
            <a:r>
              <a:rPr lang="ko-KR" altLang="en-US" dirty="0"/>
              <a:t> 함 </a:t>
            </a:r>
          </a:p>
          <a:p>
            <a:pPr lvl="3" eaLnBrk="1" hangingPunct="1">
              <a:defRPr/>
            </a:pPr>
            <a:r>
              <a:rPr lang="ko-KR" altLang="en-US" dirty="0">
                <a:solidFill>
                  <a:srgbClr val="FF0000"/>
                </a:solidFill>
              </a:rPr>
              <a:t>피호출 </a:t>
            </a:r>
            <a:r>
              <a:rPr lang="ko-KR" altLang="en-US" dirty="0" err="1">
                <a:solidFill>
                  <a:srgbClr val="FF0000"/>
                </a:solidFill>
              </a:rPr>
              <a:t>함수명</a:t>
            </a:r>
            <a:r>
              <a:rPr lang="ko-KR" altLang="en-US" dirty="0">
                <a:solidFill>
                  <a:srgbClr val="FF0000"/>
                </a:solidFill>
              </a:rPr>
              <a:t> 앞에는 </a:t>
            </a:r>
            <a:r>
              <a:rPr lang="en-US" altLang="ko-KR" dirty="0">
                <a:solidFill>
                  <a:srgbClr val="FF0000"/>
                </a:solidFill>
              </a:rPr>
              <a:t>void, </a:t>
            </a:r>
            <a:r>
              <a:rPr lang="ko-KR" altLang="en-US" dirty="0">
                <a:solidFill>
                  <a:srgbClr val="FF0000"/>
                </a:solidFill>
              </a:rPr>
              <a:t>정수형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실수형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문자형 등이 될 수 있음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5</a:t>
            </a:r>
            <a:r>
              <a:rPr lang="ko-KR" altLang="en-US"/>
              <a:t>장 함수 </a:t>
            </a:r>
            <a:r>
              <a:rPr lang="en-US" altLang="ko-KR"/>
              <a:t>(2. </a:t>
            </a:r>
            <a:r>
              <a:rPr lang="ko-KR" altLang="en-US"/>
              <a:t>함수의 작성과 구조</a:t>
            </a:r>
            <a:r>
              <a:rPr lang="en-US" altLang="ko-KR"/>
              <a:t>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#define _CRT_SECURE_NO_WARNINGS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#include &lt;stdio.h&gt;</a:t>
            </a:r>
          </a:p>
          <a:p>
            <a:pPr marL="0" indent="0" eaLnBrk="1" hangingPunct="1">
              <a:buFont typeface="Monotype Sorts" pitchFamily="2" charset="2"/>
              <a:buNone/>
            </a:pPr>
            <a:endParaRPr lang="en-US" altLang="ko-KR" sz="1600"/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int sum(int in_x, int in_y)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{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int out_x=0;   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out_x = in_x + in_y;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return(out_x);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}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             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void main( )                         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{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int x, y, result;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printf("</a:t>
            </a:r>
            <a:r>
              <a:rPr lang="ko-KR" altLang="en-US" sz="1600"/>
              <a:t>원하는 두 정수를 입력하시오</a:t>
            </a:r>
            <a:r>
              <a:rPr lang="en-US" altLang="ko-KR" sz="1600"/>
              <a:t>.");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scanf("%d %d",&amp;x, &amp;y);                       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result=sum(x,y);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printf("x+y = %d\n",result);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}</a:t>
            </a:r>
          </a:p>
        </p:txBody>
      </p:sp>
      <p:pic>
        <p:nvPicPr>
          <p:cNvPr id="440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5" y="3357563"/>
            <a:ext cx="5610225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5</a:t>
            </a:r>
            <a:r>
              <a:rPr lang="ko-KR" altLang="en-US"/>
              <a:t>장 함수 </a:t>
            </a:r>
            <a:r>
              <a:rPr lang="en-US" altLang="ko-KR"/>
              <a:t>(2. </a:t>
            </a:r>
            <a:r>
              <a:rPr lang="ko-KR" altLang="en-US"/>
              <a:t>함수의 작성과 구조</a:t>
            </a:r>
            <a:r>
              <a:rPr lang="en-US" altLang="ko-KR"/>
              <a:t>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#define _CRT_SECURE_NO_WARNINGS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#include &lt;stdio.h&gt;</a:t>
            </a:r>
          </a:p>
          <a:p>
            <a:pPr marL="0" indent="0" eaLnBrk="1" hangingPunct="1">
              <a:buFont typeface="Monotype Sorts" pitchFamily="2" charset="2"/>
              <a:buNone/>
            </a:pPr>
            <a:endParaRPr lang="en-US" altLang="ko-KR" sz="1600"/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Void sum(int in_x, int in_y int *z)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{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*z = in_x + in_y;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}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             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void main( )                         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{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int x, y, z;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printf("</a:t>
            </a:r>
            <a:r>
              <a:rPr lang="ko-KR" altLang="en-US" sz="1600"/>
              <a:t>원하는 두 정수를 입력하시오</a:t>
            </a:r>
            <a:r>
              <a:rPr lang="en-US" altLang="ko-KR" sz="1600"/>
              <a:t>.");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scanf("%d %d",&amp;x, &amp;y);                       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sum(x, y, &amp;z);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      printf("x+y = %d\n", z);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ko-KR" sz="1600"/>
              <a:t>}</a:t>
            </a:r>
          </a:p>
        </p:txBody>
      </p:sp>
      <p:pic>
        <p:nvPicPr>
          <p:cNvPr id="4506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88" y="2708275"/>
            <a:ext cx="5610225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5</a:t>
            </a:r>
            <a:r>
              <a:rPr lang="ko-KR" altLang="en-US"/>
              <a:t>장 함수 </a:t>
            </a:r>
            <a:r>
              <a:rPr lang="en-US" altLang="ko-KR"/>
              <a:t>(3. </a:t>
            </a:r>
            <a:r>
              <a:rPr lang="ko-KR" altLang="en-US"/>
              <a:t>매개변수 전달 방법</a:t>
            </a:r>
            <a:r>
              <a:rPr lang="en-US" altLang="ko-KR"/>
              <a:t>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Arial" panose="020B0604020202020204" pitchFamily="34" charset="0"/>
              </a:rPr>
              <a:t> </a:t>
            </a:r>
            <a:r>
              <a:rPr lang="ko-KR" altLang="en-US"/>
              <a:t>함수를 사용함에 있어 가장 중요한 요소 </a:t>
            </a:r>
            <a:r>
              <a:rPr lang="en-US" altLang="ko-KR"/>
              <a:t>: </a:t>
            </a:r>
            <a:r>
              <a:rPr lang="ko-KR" altLang="en-US"/>
              <a:t>매개변수를 전달하는 방법 </a:t>
            </a:r>
          </a:p>
          <a:p>
            <a:pPr lvl="1" eaLnBrk="1" hangingPunct="1"/>
            <a:r>
              <a:rPr lang="ko-KR" altLang="en-US"/>
              <a:t>매개변수 목록을 통하여 호출 함수의 값을 전달받음</a:t>
            </a:r>
          </a:p>
          <a:p>
            <a:pPr lvl="1" eaLnBrk="1" hangingPunct="1"/>
            <a:r>
              <a:rPr lang="en-US" altLang="ko-KR"/>
              <a:t>[</a:t>
            </a:r>
            <a:r>
              <a:rPr lang="ko-KR" altLang="en-US"/>
              <a:t>함수의 자료형</a:t>
            </a:r>
            <a:r>
              <a:rPr lang="en-US" altLang="ko-KR"/>
              <a:t>] </a:t>
            </a:r>
            <a:r>
              <a:rPr lang="ko-KR" altLang="en-US"/>
              <a:t>함수명</a:t>
            </a:r>
            <a:r>
              <a:rPr lang="en-US" altLang="ko-KR"/>
              <a:t>([</a:t>
            </a:r>
            <a:r>
              <a:rPr lang="ko-KR" altLang="en-US"/>
              <a:t>매개변수 목록</a:t>
            </a:r>
            <a:r>
              <a:rPr lang="en-US" altLang="ko-KR"/>
              <a:t>]) </a:t>
            </a:r>
          </a:p>
          <a:p>
            <a:pPr lvl="1" eaLnBrk="1" hangingPunct="1"/>
            <a:endParaRPr lang="en-US" altLang="ko-KR"/>
          </a:p>
          <a:p>
            <a:pPr eaLnBrk="1" hangingPunct="1"/>
            <a:r>
              <a:rPr lang="ko-KR" altLang="en-US"/>
              <a:t>전달하는 매개변수가 있는 경우 </a:t>
            </a:r>
          </a:p>
          <a:p>
            <a:pPr lvl="1" eaLnBrk="1" hangingPunct="1"/>
            <a:r>
              <a:rPr lang="ko-KR" altLang="en-US">
                <a:solidFill>
                  <a:srgbClr val="FF0000"/>
                </a:solidFill>
                <a:latin typeface="Arial" panose="020B0604020202020204" pitchFamily="34" charset="0"/>
              </a:rPr>
              <a:t> </a:t>
            </a:r>
            <a:r>
              <a:rPr lang="ko-KR" altLang="en-US">
                <a:solidFill>
                  <a:srgbClr val="FF0000"/>
                </a:solidFill>
              </a:rPr>
              <a:t>실 매개변수</a:t>
            </a:r>
            <a:r>
              <a:rPr lang="en-US" altLang="ko-KR">
                <a:solidFill>
                  <a:srgbClr val="FF0000"/>
                </a:solidFill>
              </a:rPr>
              <a:t>(actual parameter) : </a:t>
            </a:r>
          </a:p>
          <a:p>
            <a:pPr lvl="2" eaLnBrk="1" hangingPunct="1"/>
            <a:r>
              <a:rPr lang="ko-KR" altLang="en-US"/>
              <a:t>호출 함수의 매개변수 목록 </a:t>
            </a:r>
          </a:p>
          <a:p>
            <a:pPr lvl="2" eaLnBrk="1" hangingPunct="1"/>
            <a:r>
              <a:rPr lang="ko-KR" altLang="en-US"/>
              <a:t>변수</a:t>
            </a:r>
            <a:r>
              <a:rPr lang="en-US" altLang="ko-KR"/>
              <a:t>, </a:t>
            </a:r>
            <a:r>
              <a:rPr lang="ko-KR" altLang="en-US"/>
              <a:t>상수 또는 수식이 이용 </a:t>
            </a:r>
          </a:p>
          <a:p>
            <a:pPr lvl="1" eaLnBrk="1" hangingPunct="1"/>
            <a:r>
              <a:rPr lang="ko-KR" altLang="en-US">
                <a:latin typeface="Arial" panose="020B0604020202020204" pitchFamily="34" charset="0"/>
              </a:rPr>
              <a:t> </a:t>
            </a:r>
            <a:r>
              <a:rPr lang="ko-KR" altLang="en-US">
                <a:solidFill>
                  <a:srgbClr val="FF0000"/>
                </a:solidFill>
              </a:rPr>
              <a:t>형식 매개변수</a:t>
            </a:r>
            <a:r>
              <a:rPr lang="en-US" altLang="ko-KR">
                <a:solidFill>
                  <a:srgbClr val="FF0000"/>
                </a:solidFill>
              </a:rPr>
              <a:t>(formal parameter) : </a:t>
            </a:r>
          </a:p>
          <a:p>
            <a:pPr lvl="2" eaLnBrk="1" hangingPunct="1"/>
            <a:r>
              <a:rPr lang="ko-KR" altLang="en-US"/>
              <a:t>피호출 함수에 사용되는 매개변수 목록 </a:t>
            </a:r>
          </a:p>
          <a:p>
            <a:pPr lvl="2" eaLnBrk="1" hangingPunct="1"/>
            <a:r>
              <a:rPr lang="ko-KR" altLang="en-US"/>
              <a:t>상수나 수식은 허용않으며 변수만 사용 </a:t>
            </a:r>
          </a:p>
          <a:p>
            <a:pPr lvl="2" eaLnBrk="1" hangingPunct="1"/>
            <a:r>
              <a:rPr lang="ko-KR" altLang="en-US">
                <a:latin typeface="Arial" panose="020B0604020202020204" pitchFamily="34" charset="0"/>
              </a:rPr>
              <a:t> </a:t>
            </a:r>
            <a:r>
              <a:rPr lang="ko-KR" altLang="en-US"/>
              <a:t>실 매개변수와 하나씩 </a:t>
            </a:r>
            <a:r>
              <a:rPr lang="en-US" altLang="ko-KR"/>
              <a:t>1:1 </a:t>
            </a:r>
            <a:r>
              <a:rPr lang="ko-KR" altLang="en-US"/>
              <a:t>대응 구조 </a:t>
            </a:r>
            <a:endParaRPr lang="en-US" altLang="ko-KR"/>
          </a:p>
          <a:p>
            <a:pPr lvl="1" eaLnBrk="1" hangingPunct="1"/>
            <a:endParaRPr lang="en-US" altLang="ko-KR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5</a:t>
            </a:r>
            <a:r>
              <a:rPr lang="ko-KR" altLang="en-US"/>
              <a:t>장 함수 </a:t>
            </a:r>
            <a:r>
              <a:rPr lang="en-US" altLang="ko-KR"/>
              <a:t>(3. </a:t>
            </a:r>
            <a:r>
              <a:rPr lang="ko-KR" altLang="en-US"/>
              <a:t>매개변수 전달 방법</a:t>
            </a:r>
            <a:r>
              <a:rPr lang="en-US" altLang="ko-KR"/>
              <a:t>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다른 함수를 호출할 경우 크게 두 가지 형태의 호출 </a:t>
            </a:r>
          </a:p>
          <a:p>
            <a:pPr lvl="1" eaLnBrk="1" hangingPunct="1"/>
            <a:r>
              <a:rPr lang="ko-KR" altLang="en-US"/>
              <a:t>값에 의한 호출</a:t>
            </a:r>
            <a:r>
              <a:rPr lang="en-US" altLang="ko-KR"/>
              <a:t>(call by value) </a:t>
            </a:r>
          </a:p>
          <a:p>
            <a:pPr lvl="2" eaLnBrk="1" hangingPunct="1"/>
            <a:r>
              <a:rPr lang="ko-KR" altLang="en-US"/>
              <a:t>전달하는 변수의 값만 복사하므로 호출함수의 원래 값은 변하지 않음 </a:t>
            </a:r>
          </a:p>
          <a:p>
            <a:pPr lvl="2" eaLnBrk="1" hangingPunct="1"/>
            <a:r>
              <a:rPr lang="ko-KR" altLang="en-US"/>
              <a:t>변수값의 전달이 일방향으로 전달 </a:t>
            </a:r>
          </a:p>
          <a:p>
            <a:pPr lvl="2" eaLnBrk="1" hangingPunct="1"/>
            <a:endParaRPr lang="ko-KR" altLang="en-US"/>
          </a:p>
          <a:p>
            <a:pPr lvl="1" eaLnBrk="1" hangingPunct="1"/>
            <a:r>
              <a:rPr lang="ko-KR" altLang="en-US"/>
              <a:t>참조에 의한 호출</a:t>
            </a:r>
            <a:r>
              <a:rPr lang="en-US" altLang="ko-KR"/>
              <a:t>(call by reference) </a:t>
            </a:r>
          </a:p>
          <a:p>
            <a:pPr lvl="2" eaLnBrk="1" hangingPunct="1"/>
            <a:r>
              <a:rPr lang="ko-KR" altLang="en-US"/>
              <a:t>전달받은 변수의 값이 바뀌면 원래 호출한 함수의 변수값이 바뀐다는 것 </a:t>
            </a:r>
          </a:p>
          <a:p>
            <a:pPr lvl="2" eaLnBrk="1" hangingPunct="1"/>
            <a:r>
              <a:rPr lang="ko-KR" altLang="en-US"/>
              <a:t>변경되는 변수 값이 양방향으로 전달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5</a:t>
            </a:r>
            <a:r>
              <a:rPr lang="ko-KR" altLang="en-US"/>
              <a:t>장 함수 </a:t>
            </a:r>
            <a:r>
              <a:rPr lang="en-US" altLang="ko-KR"/>
              <a:t>(3. </a:t>
            </a:r>
            <a:r>
              <a:rPr lang="ko-KR" altLang="en-US"/>
              <a:t>매개변수 전달 방법</a:t>
            </a:r>
            <a:r>
              <a:rPr lang="en-US" altLang="ko-KR"/>
              <a:t>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Arial" panose="020B0604020202020204" pitchFamily="34" charset="0"/>
              </a:rPr>
              <a:t> </a:t>
            </a:r>
            <a:r>
              <a:rPr lang="ko-KR" altLang="en-US"/>
              <a:t>참조에 의한 호출</a:t>
            </a:r>
            <a:r>
              <a:rPr lang="en-US" altLang="ko-KR"/>
              <a:t>(call by reference) </a:t>
            </a:r>
          </a:p>
          <a:p>
            <a:pPr lvl="1" eaLnBrk="1" hangingPunct="1"/>
            <a:r>
              <a:rPr lang="ko-KR" altLang="en-US">
                <a:solidFill>
                  <a:srgbClr val="FF0000"/>
                </a:solidFill>
              </a:rPr>
              <a:t>값에 의한 호출 방법 </a:t>
            </a:r>
          </a:p>
          <a:p>
            <a:pPr lvl="2" eaLnBrk="1" hangingPunct="1"/>
            <a:r>
              <a:rPr lang="ko-KR" altLang="en-US"/>
              <a:t>사용하기는 쉽다</a:t>
            </a:r>
            <a:r>
              <a:rPr lang="en-US" altLang="ko-KR"/>
              <a:t>. </a:t>
            </a:r>
          </a:p>
          <a:p>
            <a:pPr lvl="2" eaLnBrk="1" hangingPunct="1"/>
            <a:r>
              <a:rPr lang="ko-KR" altLang="en-US"/>
              <a:t>실 매개변수의 값을 변경시킬 수 없다</a:t>
            </a:r>
            <a:r>
              <a:rPr lang="en-US" altLang="ko-KR"/>
              <a:t>. </a:t>
            </a:r>
          </a:p>
          <a:p>
            <a:pPr lvl="2" eaLnBrk="1" hangingPunct="1"/>
            <a:r>
              <a:rPr lang="ko-KR" altLang="en-US">
                <a:solidFill>
                  <a:srgbClr val="FF0000"/>
                </a:solidFill>
              </a:rPr>
              <a:t>반환받을 수 있는 값이 </a:t>
            </a:r>
            <a:r>
              <a:rPr lang="en-US" altLang="ko-KR">
                <a:solidFill>
                  <a:srgbClr val="FF0000"/>
                </a:solidFill>
              </a:rPr>
              <a:t>return( )</a:t>
            </a:r>
            <a:r>
              <a:rPr lang="ko-KR" altLang="en-US">
                <a:solidFill>
                  <a:srgbClr val="FF0000"/>
                </a:solidFill>
              </a:rPr>
              <a:t>문에 의한 것 하나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ko-KR" altLang="en-US">
                <a:latin typeface="Arial" panose="020B0604020202020204" pitchFamily="34" charset="0"/>
              </a:rPr>
              <a:t>    </a:t>
            </a:r>
            <a:r>
              <a:rPr lang="en-US" altLang="ko-KR"/>
              <a:t>=&gt; </a:t>
            </a:r>
            <a:r>
              <a:rPr lang="ko-KR" altLang="en-US"/>
              <a:t>단점을 보완하기 위해 참조에 의한 호출 방법을 사용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ko-KR" altLang="en-US"/>
          </a:p>
          <a:p>
            <a:pPr lvl="1" eaLnBrk="1" hangingPunct="1"/>
            <a:r>
              <a:rPr lang="ko-KR" altLang="en-US">
                <a:solidFill>
                  <a:srgbClr val="FF0000"/>
                </a:solidFill>
              </a:rPr>
              <a:t>참조의 의한 호출 방법 </a:t>
            </a:r>
          </a:p>
          <a:p>
            <a:pPr lvl="2" eaLnBrk="1" hangingPunct="1"/>
            <a:r>
              <a:rPr lang="ko-KR" altLang="en-US"/>
              <a:t>실 매개변수로 상수값을 이용하는 것이 아니라 </a:t>
            </a:r>
          </a:p>
          <a:p>
            <a:pPr lvl="2" eaLnBrk="1" hangingPunct="1"/>
            <a:r>
              <a:rPr lang="ko-KR" altLang="en-US"/>
              <a:t>주소를 이용하는 방식 </a:t>
            </a:r>
          </a:p>
          <a:p>
            <a:pPr lvl="2" eaLnBrk="1" hangingPunct="1"/>
            <a:r>
              <a:rPr lang="ko-KR" altLang="en-US">
                <a:solidFill>
                  <a:srgbClr val="FF0000"/>
                </a:solidFill>
              </a:rPr>
              <a:t>주소에 의한 호출 방식</a:t>
            </a:r>
            <a:r>
              <a:rPr lang="en-US" altLang="ko-KR">
                <a:solidFill>
                  <a:srgbClr val="FF0000"/>
                </a:solidFill>
              </a:rPr>
              <a:t>(call by address)</a:t>
            </a:r>
            <a:r>
              <a:rPr lang="ko-KR" altLang="en-US">
                <a:solidFill>
                  <a:srgbClr val="FF0000"/>
                </a:solidFill>
              </a:rPr>
              <a:t>이라 함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5</a:t>
            </a:r>
            <a:r>
              <a:rPr lang="ko-KR" altLang="en-US"/>
              <a:t>장 함수 </a:t>
            </a:r>
            <a:r>
              <a:rPr lang="en-US" altLang="ko-KR"/>
              <a:t>(3. </a:t>
            </a:r>
            <a:r>
              <a:rPr lang="ko-KR" altLang="en-US"/>
              <a:t>매개변수 전달 방법</a:t>
            </a:r>
            <a:r>
              <a:rPr lang="en-US" altLang="ko-KR"/>
              <a:t>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주소</a:t>
            </a:r>
            <a:r>
              <a:rPr lang="en-US" altLang="ko-KR"/>
              <a:t>(address) </a:t>
            </a:r>
            <a:r>
              <a:rPr lang="ko-KR" altLang="en-US"/>
              <a:t>연산자</a:t>
            </a:r>
            <a:r>
              <a:rPr lang="en-US" altLang="ko-KR"/>
              <a:t>(&amp;)</a:t>
            </a:r>
            <a:r>
              <a:rPr lang="ko-KR" altLang="en-US"/>
              <a:t>와 포인터</a:t>
            </a:r>
            <a:r>
              <a:rPr lang="en-US" altLang="ko-KR"/>
              <a:t>(pointer) </a:t>
            </a:r>
            <a:r>
              <a:rPr lang="ko-KR" altLang="en-US"/>
              <a:t>연산자</a:t>
            </a:r>
            <a:r>
              <a:rPr lang="en-US" altLang="ko-KR"/>
              <a:t>(*)</a:t>
            </a:r>
            <a:r>
              <a:rPr lang="ko-KR" altLang="en-US"/>
              <a:t>를 이용 </a:t>
            </a:r>
          </a:p>
          <a:p>
            <a:pPr eaLnBrk="1" hangingPunct="1"/>
            <a:endParaRPr lang="ko-KR" altLang="en-US"/>
          </a:p>
          <a:p>
            <a:pPr lvl="1" eaLnBrk="1" hangingPunct="1"/>
            <a:r>
              <a:rPr lang="ko-KR" altLang="en-US" sz="2000"/>
              <a:t>호출 함수</a:t>
            </a:r>
            <a:r>
              <a:rPr lang="ko-KR" altLang="en-US" sz="2000">
                <a:latin typeface="Arial" panose="020B0604020202020204" pitchFamily="34" charset="0"/>
              </a:rPr>
              <a:t>  </a:t>
            </a:r>
            <a:r>
              <a:rPr lang="ko-KR" altLang="en-US" sz="2000"/>
              <a:t> </a:t>
            </a:r>
            <a:r>
              <a:rPr lang="en-US" altLang="ko-KR" sz="2000"/>
              <a:t>:</a:t>
            </a:r>
            <a:r>
              <a:rPr lang="en-US" altLang="ko-KR" sz="2000">
                <a:latin typeface="Arial" panose="020B0604020202020204" pitchFamily="34" charset="0"/>
              </a:rPr>
              <a:t> </a:t>
            </a:r>
            <a:r>
              <a:rPr lang="en-US" altLang="ko-KR" sz="2000"/>
              <a:t> </a:t>
            </a:r>
            <a:r>
              <a:rPr lang="ko-KR" altLang="en-US" sz="2000"/>
              <a:t>함수명</a:t>
            </a:r>
            <a:r>
              <a:rPr lang="en-US" altLang="ko-KR" sz="2000"/>
              <a:t>(&amp;</a:t>
            </a:r>
            <a:r>
              <a:rPr lang="ko-KR" altLang="en-US" sz="2000"/>
              <a:t>변수</a:t>
            </a:r>
            <a:r>
              <a:rPr lang="en-US" altLang="ko-KR" sz="2000"/>
              <a:t>1, &amp;</a:t>
            </a:r>
            <a:r>
              <a:rPr lang="ko-KR" altLang="en-US" sz="2000"/>
              <a:t>변수</a:t>
            </a:r>
            <a:r>
              <a:rPr lang="en-US" altLang="ko-KR" sz="2000"/>
              <a:t>2,</a:t>
            </a:r>
            <a:r>
              <a:rPr lang="en-US" altLang="ko-KR" sz="2000">
                <a:latin typeface="Arial" panose="020B0604020202020204" pitchFamily="34" charset="0"/>
              </a:rPr>
              <a:t> </a:t>
            </a:r>
            <a:r>
              <a:rPr lang="en-US" altLang="ko-KR" sz="2000"/>
              <a:t> ....) </a:t>
            </a:r>
          </a:p>
          <a:p>
            <a:pPr lvl="1" eaLnBrk="1" hangingPunct="1"/>
            <a:r>
              <a:rPr lang="ko-KR" altLang="en-US" sz="2000"/>
              <a:t>피호출 함수 </a:t>
            </a:r>
            <a:r>
              <a:rPr lang="en-US" altLang="ko-KR" sz="2000"/>
              <a:t>:</a:t>
            </a:r>
            <a:r>
              <a:rPr lang="en-US" altLang="ko-KR" sz="2000">
                <a:latin typeface="Arial" panose="020B0604020202020204" pitchFamily="34" charset="0"/>
              </a:rPr>
              <a:t> </a:t>
            </a:r>
            <a:r>
              <a:rPr lang="en-US" altLang="ko-KR" sz="2000"/>
              <a:t> </a:t>
            </a:r>
            <a:r>
              <a:rPr lang="ko-KR" altLang="en-US" sz="2000"/>
              <a:t>함수명</a:t>
            </a:r>
            <a:r>
              <a:rPr lang="en-US" altLang="ko-KR" sz="2000"/>
              <a:t>(</a:t>
            </a:r>
            <a:r>
              <a:rPr lang="ko-KR" altLang="en-US" sz="2000"/>
              <a:t>자료형 *변수</a:t>
            </a:r>
            <a:r>
              <a:rPr lang="en-US" altLang="ko-KR" sz="2000"/>
              <a:t>1, </a:t>
            </a:r>
            <a:r>
              <a:rPr lang="ko-KR" altLang="en-US" sz="2000"/>
              <a:t>자료형 *변수</a:t>
            </a:r>
            <a:r>
              <a:rPr lang="en-US" altLang="ko-KR" sz="2000"/>
              <a:t>2,</a:t>
            </a:r>
            <a:r>
              <a:rPr lang="en-US" altLang="ko-KR" sz="2000">
                <a:latin typeface="Arial" panose="020B0604020202020204" pitchFamily="34" charset="0"/>
              </a:rPr>
              <a:t> </a:t>
            </a:r>
            <a:r>
              <a:rPr lang="en-US" altLang="ko-KR" sz="2000"/>
              <a:t> ....) </a:t>
            </a:r>
            <a:br>
              <a:rPr lang="en-US" altLang="ko-KR" sz="2000"/>
            </a:br>
            <a:endParaRPr lang="en-US" altLang="ko-KR" sz="2000"/>
          </a:p>
          <a:p>
            <a:pPr lvl="1" eaLnBrk="1" hangingPunct="1"/>
            <a:r>
              <a:rPr lang="ko-KR" altLang="en-US">
                <a:solidFill>
                  <a:srgbClr val="FF0000"/>
                </a:solidFill>
              </a:rPr>
              <a:t>호출 함수에 사용되는 주소 연산자</a:t>
            </a:r>
            <a:r>
              <a:rPr lang="ko-KR" altLang="en-US">
                <a:solidFill>
                  <a:srgbClr val="FF0000"/>
                </a:solidFill>
                <a:latin typeface="Arial" panose="020B0604020202020204" pitchFamily="34" charset="0"/>
              </a:rPr>
              <a:t> 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&amp; : </a:t>
            </a:r>
          </a:p>
          <a:p>
            <a:pPr lvl="2" eaLnBrk="1" hangingPunct="1"/>
            <a:r>
              <a:rPr lang="ko-KR" altLang="en-US"/>
              <a:t>자료가 저장되는 변수의 주소 첫번째 번지를 지칭하는 연산자 </a:t>
            </a:r>
          </a:p>
          <a:p>
            <a:pPr lvl="2" eaLnBrk="1" hangingPunct="1"/>
            <a:r>
              <a:rPr lang="en-US" altLang="ko-KR"/>
              <a:t>&amp;x</a:t>
            </a:r>
            <a:r>
              <a:rPr lang="ko-KR" altLang="en-US"/>
              <a:t>라 하면 </a:t>
            </a:r>
            <a:r>
              <a:rPr lang="en-US" altLang="ko-KR"/>
              <a:t>x</a:t>
            </a:r>
            <a:r>
              <a:rPr lang="ko-KR" altLang="en-US"/>
              <a:t>라는 변수의 시작 주소를 의미 </a:t>
            </a:r>
            <a:endParaRPr lang="en-US" altLang="ko-KR"/>
          </a:p>
          <a:p>
            <a:pPr lvl="2" eaLnBrk="1" hangingPunct="1"/>
            <a:endParaRPr lang="ko-KR" altLang="en-US"/>
          </a:p>
          <a:p>
            <a:pPr lvl="1" eaLnBrk="1" hangingPunct="1"/>
            <a:r>
              <a:rPr lang="ko-KR" altLang="en-US">
                <a:solidFill>
                  <a:srgbClr val="FF0000"/>
                </a:solidFill>
              </a:rPr>
              <a:t>피호출 함수에 사용되는 포인터 연산자 * </a:t>
            </a:r>
            <a:r>
              <a:rPr lang="en-US" altLang="ko-KR">
                <a:solidFill>
                  <a:srgbClr val="FF0000"/>
                </a:solidFill>
              </a:rPr>
              <a:t>: </a:t>
            </a:r>
          </a:p>
          <a:p>
            <a:pPr lvl="2" eaLnBrk="1" hangingPunct="1"/>
            <a:r>
              <a:rPr lang="ko-KR" altLang="en-US"/>
              <a:t>주소에 저장된 데이터 내용을 지칭 </a:t>
            </a:r>
          </a:p>
          <a:p>
            <a:pPr lvl="2" eaLnBrk="1" hangingPunct="1"/>
            <a:r>
              <a:rPr lang="ko-KR" altLang="en-US"/>
              <a:t>*</a:t>
            </a:r>
            <a:r>
              <a:rPr lang="en-US" altLang="ko-KR"/>
              <a:t>a</a:t>
            </a:r>
            <a:r>
              <a:rPr lang="ko-KR" altLang="en-US"/>
              <a:t>로 받게 되면 </a:t>
            </a:r>
            <a:r>
              <a:rPr lang="en-US" altLang="ko-KR"/>
              <a:t>a</a:t>
            </a:r>
            <a:r>
              <a:rPr lang="ko-KR" altLang="en-US"/>
              <a:t>라는 변수는 주소 값을 저장하는 곳이 됨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lab서식">
  <a:themeElements>
    <a:clrScheme name="2_lab서식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lab서식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tx1"/>
                </a:outerShdw>
              </a:effectLst>
            </a14:hiddenEffects>
          </a:ext>
        </a:extLst>
      </a:spPr>
      <a:bodyPr vert="horz" wrap="square" lIns="90487" tIns="44450" rIns="90487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80000"/>
          <a:buFont typeface="Monotype Sorts" pitchFamily="2" charset="2"/>
          <a:buChar char="q"/>
          <a:tabLst/>
          <a:defRPr kumimoji="1" lang="ko-KR" altLang="en-US" sz="2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tx1"/>
                </a:outerShdw>
              </a:effectLst>
            </a14:hiddenEffects>
          </a:ext>
        </a:extLst>
      </a:spPr>
      <a:bodyPr vert="horz" wrap="square" lIns="90487" tIns="44450" rIns="90487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80000"/>
          <a:buFont typeface="Monotype Sorts" pitchFamily="2" charset="2"/>
          <a:buChar char="q"/>
          <a:tabLst/>
          <a:defRPr kumimoji="1" lang="ko-KR" altLang="en-US" sz="2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2_lab서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b서식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11592</TotalTime>
  <Words>1613</Words>
  <Application>Microsoft Office PowerPoint</Application>
  <PresentationFormat>화면 슬라이드 쇼(4:3)</PresentationFormat>
  <Paragraphs>214</Paragraphs>
  <Slides>23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MD솔체</vt:lpstr>
      <vt:lpstr>Monotype Sorts</vt:lpstr>
      <vt:lpstr>굴림</vt:lpstr>
      <vt:lpstr>휴먼옛체</vt:lpstr>
      <vt:lpstr>Arial</vt:lpstr>
      <vt:lpstr>Times New Roman</vt:lpstr>
      <vt:lpstr>Wingdings</vt:lpstr>
      <vt:lpstr>2_lab서식</vt:lpstr>
      <vt:lpstr>PowerPoint 프레젠테이션</vt:lpstr>
      <vt:lpstr>제 3장 연산자(1. 산술 연산자)</vt:lpstr>
      <vt:lpstr>제 3장 연산자(2. 비트 연산자)</vt:lpstr>
      <vt:lpstr>제 3장 연산자(3. 관계, 등가, 논리 연산자)</vt:lpstr>
      <vt:lpstr>제 3장 연산자(3. 관계, 등가, 논리 연산자)</vt:lpstr>
      <vt:lpstr>제 3장 연산자 (8. 연산 우선 순위 )</vt:lpstr>
      <vt:lpstr>PowerPoint 프레젠테이션</vt:lpstr>
      <vt:lpstr>PowerPoint 프레젠테이션</vt:lpstr>
      <vt:lpstr>제 4장 프로그램 제어문(1. if 문)</vt:lpstr>
      <vt:lpstr>제 4장 프로그램 제어문(1. if 문)</vt:lpstr>
      <vt:lpstr>제 4장 프로그램 제어문(3. for문 )</vt:lpstr>
      <vt:lpstr>제 4장 프로그램 제어문(3. for문 )</vt:lpstr>
      <vt:lpstr>제 4장 프로그램 제어문(4. while문 )</vt:lpstr>
      <vt:lpstr>PowerPoint 프레젠테이션</vt:lpstr>
      <vt:lpstr>제 5장 함수 (2. 함수의 작성과 구조)</vt:lpstr>
      <vt:lpstr>제 5장 함수 (2. 함수의 작성과 구조)</vt:lpstr>
      <vt:lpstr>제 5장 함수 (2. 함수의 작성과 구조)</vt:lpstr>
      <vt:lpstr>제 5장 함수 (2. 함수의 작성과 구조)</vt:lpstr>
      <vt:lpstr>제 5장 함수 (2. 함수의 작성과 구조)</vt:lpstr>
      <vt:lpstr>제 5장 함수 (3. 매개변수 전달 방법)</vt:lpstr>
      <vt:lpstr>제 5장 함수 (3. 매개변수 전달 방법)</vt:lpstr>
      <vt:lpstr>제 5장 함수 (3. 매개변수 전달 방법)</vt:lpstr>
      <vt:lpstr>제 5장 함수 (3. 매개변수 전달 방법)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creator>하재철</dc:creator>
  <cp:lastModifiedBy>하재철</cp:lastModifiedBy>
  <cp:revision>290</cp:revision>
  <cp:lastPrinted>2020-09-13T13:34:08Z</cp:lastPrinted>
  <dcterms:created xsi:type="dcterms:W3CDTF">1997-09-08T10:52:24Z</dcterms:created>
  <dcterms:modified xsi:type="dcterms:W3CDTF">2026-03-17T23:57:44Z</dcterms:modified>
</cp:coreProperties>
</file>