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5" r:id="rId1"/>
  </p:sldMasterIdLst>
  <p:notesMasterIdLst>
    <p:notesMasterId r:id="rId21"/>
  </p:notesMasterIdLst>
  <p:handoutMasterIdLst>
    <p:handoutMasterId r:id="rId22"/>
  </p:handoutMasterIdLst>
  <p:sldIdLst>
    <p:sldId id="421" r:id="rId2"/>
    <p:sldId id="468" r:id="rId3"/>
    <p:sldId id="471" r:id="rId4"/>
    <p:sldId id="472" r:id="rId5"/>
    <p:sldId id="477" r:id="rId6"/>
    <p:sldId id="647" r:id="rId7"/>
    <p:sldId id="646" r:id="rId8"/>
    <p:sldId id="478" r:id="rId9"/>
    <p:sldId id="479" r:id="rId10"/>
    <p:sldId id="480" r:id="rId11"/>
    <p:sldId id="487" r:id="rId12"/>
    <p:sldId id="648" r:id="rId13"/>
    <p:sldId id="649" r:id="rId14"/>
    <p:sldId id="650" r:id="rId15"/>
    <p:sldId id="651" r:id="rId16"/>
    <p:sldId id="652" r:id="rId17"/>
    <p:sldId id="653" r:id="rId18"/>
    <p:sldId id="654" r:id="rId19"/>
    <p:sldId id="655" r:id="rId20"/>
  </p:sldIdLst>
  <p:sldSz cx="9144000" cy="6858000" type="screen4x3"/>
  <p:notesSz cx="7104063" cy="10234613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200" kern="1200">
        <a:solidFill>
          <a:srgbClr val="000000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200" kern="1200">
        <a:solidFill>
          <a:srgbClr val="000000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200" kern="1200">
        <a:solidFill>
          <a:srgbClr val="000000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200" kern="1200">
        <a:solidFill>
          <a:srgbClr val="000000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200" kern="1200">
        <a:solidFill>
          <a:srgbClr val="000000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200" kern="1200">
        <a:solidFill>
          <a:srgbClr val="000000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200" kern="1200">
        <a:solidFill>
          <a:srgbClr val="000000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200" kern="1200">
        <a:solidFill>
          <a:srgbClr val="000000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200" kern="1200">
        <a:solidFill>
          <a:srgbClr val="000000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86">
          <p15:clr>
            <a:srgbClr val="A4A3A4"/>
          </p15:clr>
        </p15:guide>
        <p15:guide id="2" orient="horz" pos="4065">
          <p15:clr>
            <a:srgbClr val="A4A3A4"/>
          </p15:clr>
        </p15:guide>
        <p15:guide id="3" pos="2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FF0000"/>
    <a:srgbClr val="FFFFCC"/>
    <a:srgbClr val="A9A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1" autoAdjust="0"/>
    <p:restoredTop sz="90460" autoAdjust="0"/>
  </p:normalViewPr>
  <p:slideViewPr>
    <p:cSldViewPr>
      <p:cViewPr varScale="1">
        <p:scale>
          <a:sx n="101" d="100"/>
          <a:sy n="101" d="100"/>
        </p:scale>
        <p:origin x="1914" y="102"/>
      </p:cViewPr>
      <p:guideLst>
        <p:guide orient="horz" pos="686"/>
        <p:guide orient="horz" pos="4065"/>
        <p:guide pos="2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-1242" y="-108"/>
      </p:cViewPr>
      <p:guideLst>
        <p:guide orient="horz" pos="3224"/>
        <p:guide pos="2239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78639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158" tIns="48079" rIns="96158" bIns="48079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spcBef>
                <a:spcPct val="0"/>
              </a:spcBef>
              <a:buClrTx/>
              <a:buSzTx/>
              <a:buFontTx/>
              <a:buNone/>
              <a:defRPr sz="13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5424" y="1"/>
            <a:ext cx="3078639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158" tIns="48079" rIns="96158" bIns="48079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spcBef>
                <a:spcPct val="0"/>
              </a:spcBef>
              <a:buClrTx/>
              <a:buSzTx/>
              <a:buFontTx/>
              <a:buNone/>
              <a:defRPr sz="13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723439"/>
            <a:ext cx="3078639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158" tIns="48079" rIns="96158" bIns="48079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spcBef>
                <a:spcPct val="0"/>
              </a:spcBef>
              <a:buClrTx/>
              <a:buSzTx/>
              <a:buFontTx/>
              <a:buNone/>
              <a:defRPr sz="13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50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5424" y="9723439"/>
            <a:ext cx="3078639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158" tIns="48079" rIns="96158" bIns="48079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spcBef>
                <a:spcPct val="0"/>
              </a:spcBef>
              <a:buClrTx/>
              <a:buSzTx/>
              <a:buFontTx/>
              <a:buNone/>
              <a:defRPr sz="13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3710D9A-86C5-4047-84AF-7E9F4376B35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78639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158" tIns="48079" rIns="96158" bIns="48079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spcBef>
                <a:spcPct val="0"/>
              </a:spcBef>
              <a:buClrTx/>
              <a:buSzTx/>
              <a:buFontTx/>
              <a:buNone/>
              <a:defRPr sz="13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5424" y="1"/>
            <a:ext cx="3078639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158" tIns="48079" rIns="96158" bIns="48079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spcBef>
                <a:spcPct val="0"/>
              </a:spcBef>
              <a:buClrTx/>
              <a:buSzTx/>
              <a:buFontTx/>
              <a:buNone/>
              <a:defRPr sz="13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5363" y="768350"/>
            <a:ext cx="5116512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40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8375" y="4860925"/>
            <a:ext cx="5207316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158" tIns="48079" rIns="96158" bIns="4807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문자열 유형을 편집하려면 누르십시오</a:t>
            </a:r>
            <a:r>
              <a:rPr lang="en-US" altLang="ko-KR" noProof="0"/>
              <a:t>.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세째 수준</a:t>
            </a:r>
          </a:p>
          <a:p>
            <a:pPr lvl="3"/>
            <a:r>
              <a:rPr lang="ko-KR" altLang="en-US" noProof="0"/>
              <a:t>네째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440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723439"/>
            <a:ext cx="3078639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158" tIns="48079" rIns="96158" bIns="48079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spcBef>
                <a:spcPct val="0"/>
              </a:spcBef>
              <a:buClrTx/>
              <a:buSzTx/>
              <a:buFontTx/>
              <a:buNone/>
              <a:defRPr sz="13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40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5424" y="9723439"/>
            <a:ext cx="3078639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158" tIns="48079" rIns="96158" bIns="48079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spcBef>
                <a:spcPct val="0"/>
              </a:spcBef>
              <a:buClrTx/>
              <a:buSzTx/>
              <a:buFontTx/>
              <a:buNone/>
              <a:defRPr sz="13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87BB423-A43B-4BAA-A897-87647463CF4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81050" indent="-300038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201738" indent="-23971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82750" indent="-23971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162175" indent="-23971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619375" indent="-2397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3076575" indent="-2397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533775" indent="-2397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990975" indent="-2397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F6CBE657-F4DB-431D-AD89-1DA93C82D037}" type="slidenum">
              <a:rPr lang="en-US" altLang="ko-KR" sz="13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</a:t>
            </a:fld>
            <a:endParaRPr lang="en-US" altLang="ko-KR" sz="1300">
              <a:latin typeface="Times New Roman" panose="02020603050405020304" pitchFamily="18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3113" y="601663"/>
            <a:ext cx="5557837" cy="4167187"/>
          </a:xfrm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8375" y="4860926"/>
            <a:ext cx="5207316" cy="4606925"/>
          </a:xfrm>
          <a:noFill/>
        </p:spPr>
        <p:txBody>
          <a:bodyPr/>
          <a:lstStyle/>
          <a:p>
            <a:pPr eaLnBrk="1" hangingPunct="1"/>
            <a:endParaRPr lang="ko-KR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81050" indent="-300038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201738" indent="-23971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82750" indent="-23971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162175" indent="-23971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619375" indent="-2397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3076575" indent="-2397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533775" indent="-2397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990975" indent="-2397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2A1D7CC0-0AF3-4024-8027-9C6153982E62}" type="slidenum">
              <a:rPr lang="en-US" altLang="ko-KR" sz="13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9</a:t>
            </a:fld>
            <a:endParaRPr lang="en-US" altLang="ko-KR" sz="1300">
              <a:latin typeface="Times New Roman" panose="02020603050405020304" pitchFamily="18" charset="0"/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3113" y="601663"/>
            <a:ext cx="5557837" cy="4167187"/>
          </a:xfrm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8375" y="4860926"/>
            <a:ext cx="5207316" cy="4606925"/>
          </a:xfrm>
          <a:noFill/>
        </p:spPr>
        <p:txBody>
          <a:bodyPr/>
          <a:lstStyle/>
          <a:p>
            <a:pPr eaLnBrk="1" hangingPunct="1"/>
            <a:endParaRPr lang="ko-KR" altLang="ko-K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81050" indent="-300038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201738" indent="-23971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82750" indent="-23971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162175" indent="-239713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619375" indent="-2397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3076575" indent="-2397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533775" indent="-2397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990975" indent="-2397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843A126C-CC5F-4B6F-9C8B-29FEFB8200B3}" type="slidenum">
              <a:rPr lang="en-US" altLang="ko-KR" sz="13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12</a:t>
            </a:fld>
            <a:endParaRPr lang="en-US" altLang="ko-KR" sz="1300">
              <a:latin typeface="Times New Roman" panose="02020603050405020304" pitchFamily="18" charset="0"/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3113" y="601663"/>
            <a:ext cx="5557837" cy="4167187"/>
          </a:xfrm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8375" y="4860926"/>
            <a:ext cx="5207316" cy="4606925"/>
          </a:xfrm>
          <a:noFill/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705475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 userDrawn="1"/>
        </p:nvSpPr>
        <p:spPr bwMode="auto">
          <a:xfrm>
            <a:off x="0" y="0"/>
            <a:ext cx="9144000" cy="1079500"/>
          </a:xfrm>
          <a:prstGeom prst="rect">
            <a:avLst/>
          </a:prstGeom>
          <a:gradFill rotWithShape="0">
            <a:gsLst>
              <a:gs pos="0">
                <a:srgbClr val="FF6600"/>
              </a:gs>
              <a:gs pos="100000">
                <a:schemeClr val="bg1"/>
              </a:gs>
            </a:gsLst>
            <a:path path="rect">
              <a:fillToRect r="100000" b="10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90487" tIns="44450" rIns="90487" bIns="44450" anchor="ctr"/>
          <a:lstStyle>
            <a:lvl1pPr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20000"/>
              </a:spcBef>
              <a:buClr>
                <a:srgbClr val="FF3300"/>
              </a:buClr>
              <a:buSzPct val="80000"/>
              <a:buFont typeface="Monotype Sorts" pitchFamily="2" charset="2"/>
              <a:buChar char="q"/>
              <a:defRPr/>
            </a:pPr>
            <a:endParaRPr lang="ko-KR" altLang="en-US"/>
          </a:p>
        </p:txBody>
      </p:sp>
      <p:sp>
        <p:nvSpPr>
          <p:cNvPr id="3" name="Rectangle 3"/>
          <p:cNvSpPr>
            <a:spLocks noChangeArrowheads="1"/>
          </p:cNvSpPr>
          <p:nvPr userDrawn="1"/>
        </p:nvSpPr>
        <p:spPr bwMode="auto">
          <a:xfrm>
            <a:off x="0" y="5791200"/>
            <a:ext cx="9144000" cy="1079500"/>
          </a:xfrm>
          <a:prstGeom prst="rect">
            <a:avLst/>
          </a:prstGeom>
          <a:gradFill rotWithShape="0">
            <a:gsLst>
              <a:gs pos="0">
                <a:srgbClr val="FF6600"/>
              </a:gs>
              <a:gs pos="100000">
                <a:schemeClr val="bg1"/>
              </a:gs>
            </a:gsLst>
            <a:path path="rect">
              <a:fillToRect l="100000" t="10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90487" tIns="44450" rIns="90487" bIns="44450" anchor="ctr"/>
          <a:lstStyle>
            <a:lvl1pPr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20000"/>
              </a:spcBef>
              <a:buClr>
                <a:srgbClr val="FF3300"/>
              </a:buClr>
              <a:buSzPct val="80000"/>
              <a:buFont typeface="Monotype Sorts" pitchFamily="2" charset="2"/>
              <a:buChar char="q"/>
              <a:defRPr/>
            </a:pPr>
            <a:endParaRPr lang="ko-KR" altLang="en-US"/>
          </a:p>
        </p:txBody>
      </p:sp>
      <p:sp>
        <p:nvSpPr>
          <p:cNvPr id="4" name="Rectangle 4"/>
          <p:cNvSpPr>
            <a:spLocks noChangeArrowheads="1"/>
          </p:cNvSpPr>
          <p:nvPr userDrawn="1"/>
        </p:nvSpPr>
        <p:spPr bwMode="auto">
          <a:xfrm>
            <a:off x="431800" y="873125"/>
            <a:ext cx="8382000" cy="762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50000">
                <a:srgbClr val="3366FF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20000"/>
              </a:spcBef>
              <a:buClr>
                <a:srgbClr val="FF3300"/>
              </a:buClr>
              <a:buSzPct val="80000"/>
              <a:buFont typeface="Monotype Sorts" pitchFamily="2" charset="2"/>
              <a:buChar char="q"/>
              <a:defRPr/>
            </a:pPr>
            <a:endParaRPr lang="ko-KR" altLang="en-US"/>
          </a:p>
        </p:txBody>
      </p:sp>
      <p:sp>
        <p:nvSpPr>
          <p:cNvPr id="5" name="Rectangle 6"/>
          <p:cNvSpPr>
            <a:spLocks noChangeArrowheads="1"/>
          </p:cNvSpPr>
          <p:nvPr userDrawn="1"/>
        </p:nvSpPr>
        <p:spPr bwMode="auto">
          <a:xfrm>
            <a:off x="0" y="0"/>
            <a:ext cx="3048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90487" tIns="44450" rIns="90487" bIns="44450" anchor="ctr"/>
          <a:lstStyle>
            <a:lvl1pPr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20000"/>
              </a:spcBef>
              <a:buClr>
                <a:srgbClr val="FF3300"/>
              </a:buClr>
              <a:buSzPct val="80000"/>
              <a:buFont typeface="Monotype Sorts" pitchFamily="2" charset="2"/>
              <a:buChar char="q"/>
              <a:defRPr/>
            </a:pPr>
            <a:endParaRPr lang="ko-KR" altLang="en-US"/>
          </a:p>
        </p:txBody>
      </p:sp>
      <p:sp>
        <p:nvSpPr>
          <p:cNvPr id="6" name="Rectangle 7"/>
          <p:cNvSpPr>
            <a:spLocks noChangeArrowheads="1"/>
          </p:cNvSpPr>
          <p:nvPr userDrawn="1"/>
        </p:nvSpPr>
        <p:spPr bwMode="auto">
          <a:xfrm>
            <a:off x="8229600" y="6400800"/>
            <a:ext cx="457200" cy="3048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1" hangingPunct="1">
              <a:defRPr/>
            </a:pPr>
            <a:fld id="{D481BA8E-A2A6-4358-AF51-C522F9A3F200}" type="slidenum">
              <a:rPr lang="en-US" altLang="ko-KR" sz="1600" b="1" smtClean="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imes New Roman" panose="02020603050405020304" pitchFamily="18" charset="0"/>
              </a:rPr>
              <a:pPr algn="ctr" eaLnBrk="1" latinLnBrk="1" hangingPunct="1">
                <a:defRPr/>
              </a:pPr>
              <a:t>‹#›</a:t>
            </a:fld>
            <a:endParaRPr lang="en-US" altLang="ko-KR" sz="1600" b="1">
              <a:solidFill>
                <a:schemeClr val="bg1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9451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461896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975451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81000" y="944563"/>
            <a:ext cx="4094163" cy="5375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27563" y="944563"/>
            <a:ext cx="4094162" cy="5375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17889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36231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693274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8614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583388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945188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4125252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37338" y="228600"/>
            <a:ext cx="2084387" cy="60912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81000" y="228600"/>
            <a:ext cx="6103938" cy="60912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104651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944563"/>
            <a:ext cx="8340725" cy="537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7" name="Rectangle 3"/>
          <p:cNvSpPr>
            <a:spLocks noChangeArrowheads="1"/>
          </p:cNvSpPr>
          <p:nvPr userDrawn="1"/>
        </p:nvSpPr>
        <p:spPr bwMode="auto">
          <a:xfrm>
            <a:off x="0" y="0"/>
            <a:ext cx="9144000" cy="1079500"/>
          </a:xfrm>
          <a:prstGeom prst="rect">
            <a:avLst/>
          </a:prstGeom>
          <a:gradFill rotWithShape="0">
            <a:gsLst>
              <a:gs pos="0">
                <a:srgbClr val="66FF66"/>
              </a:gs>
              <a:gs pos="100000">
                <a:schemeClr val="bg1"/>
              </a:gs>
            </a:gsLst>
            <a:path path="rect">
              <a:fillToRect r="100000" b="10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90487" tIns="44450" rIns="90487" bIns="44450" anchor="ctr"/>
          <a:lstStyle>
            <a:lvl1pPr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20000"/>
              </a:spcBef>
              <a:buClr>
                <a:srgbClr val="FF3300"/>
              </a:buClr>
              <a:buSzPct val="80000"/>
              <a:buFont typeface="Monotype Sorts" pitchFamily="2" charset="2"/>
              <a:buChar char="q"/>
              <a:defRPr/>
            </a:pPr>
            <a:endParaRPr lang="ko-KR" altLang="en-US"/>
          </a:p>
        </p:txBody>
      </p:sp>
      <p:sp>
        <p:nvSpPr>
          <p:cNvPr id="1028" name="Rectangle 4"/>
          <p:cNvSpPr>
            <a:spLocks noChangeArrowheads="1"/>
          </p:cNvSpPr>
          <p:nvPr userDrawn="1"/>
        </p:nvSpPr>
        <p:spPr bwMode="auto">
          <a:xfrm>
            <a:off x="0" y="6200775"/>
            <a:ext cx="9144000" cy="669925"/>
          </a:xfrm>
          <a:prstGeom prst="rect">
            <a:avLst/>
          </a:prstGeom>
          <a:gradFill rotWithShape="0">
            <a:gsLst>
              <a:gs pos="0">
                <a:srgbClr val="66FF66"/>
              </a:gs>
              <a:gs pos="100000">
                <a:schemeClr val="bg1"/>
              </a:gs>
            </a:gsLst>
            <a:path path="rect">
              <a:fillToRect l="100000" t="10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90487" tIns="44450" rIns="90487" bIns="44450" anchor="ctr"/>
          <a:lstStyle>
            <a:lvl1pPr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20000"/>
              </a:spcBef>
              <a:buClr>
                <a:srgbClr val="FF3300"/>
              </a:buClr>
              <a:buSzPct val="80000"/>
              <a:buFont typeface="Monotype Sorts" pitchFamily="2" charset="2"/>
              <a:buChar char="q"/>
              <a:defRPr/>
            </a:pPr>
            <a:endParaRPr lang="ko-KR" altLang="en-US"/>
          </a:p>
        </p:txBody>
      </p:sp>
      <p:sp>
        <p:nvSpPr>
          <p:cNvPr id="46899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28600"/>
            <a:ext cx="8340725" cy="644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0" name="Rectangle 6"/>
          <p:cNvSpPr>
            <a:spLocks noChangeArrowheads="1"/>
          </p:cNvSpPr>
          <p:nvPr userDrawn="1"/>
        </p:nvSpPr>
        <p:spPr bwMode="auto">
          <a:xfrm>
            <a:off x="431800" y="873125"/>
            <a:ext cx="8382000" cy="762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50000">
                <a:srgbClr val="3366FF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20000"/>
              </a:spcBef>
              <a:buClr>
                <a:srgbClr val="FF3300"/>
              </a:buClr>
              <a:buSzPct val="80000"/>
              <a:buFont typeface="Monotype Sorts" pitchFamily="2" charset="2"/>
              <a:buChar char="q"/>
              <a:defRPr/>
            </a:pPr>
            <a:endParaRPr lang="ko-KR" altLang="en-US"/>
          </a:p>
        </p:txBody>
      </p:sp>
      <p:sp>
        <p:nvSpPr>
          <p:cNvPr id="1031" name="Rectangle 8"/>
          <p:cNvSpPr>
            <a:spLocks noChangeArrowheads="1"/>
          </p:cNvSpPr>
          <p:nvPr userDrawn="1"/>
        </p:nvSpPr>
        <p:spPr bwMode="auto">
          <a:xfrm>
            <a:off x="0" y="0"/>
            <a:ext cx="3048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90487" tIns="44450" rIns="90487" bIns="44450" anchor="ctr"/>
          <a:lstStyle>
            <a:lvl1pPr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spcBef>
                <a:spcPct val="20000"/>
              </a:spcBef>
              <a:buClr>
                <a:srgbClr val="FF3300"/>
              </a:buClr>
              <a:buSzPct val="80000"/>
              <a:buFont typeface="Monotype Sorts" pitchFamily="2" charset="2"/>
              <a:buChar char="q"/>
              <a:defRPr/>
            </a:pPr>
            <a:endParaRPr lang="ko-KR" altLang="en-US"/>
          </a:p>
        </p:txBody>
      </p:sp>
      <p:sp>
        <p:nvSpPr>
          <p:cNvPr id="469001" name="Rectangle 9"/>
          <p:cNvSpPr>
            <a:spLocks noChangeArrowheads="1"/>
          </p:cNvSpPr>
          <p:nvPr userDrawn="1"/>
        </p:nvSpPr>
        <p:spPr bwMode="auto">
          <a:xfrm>
            <a:off x="8229600" y="6400800"/>
            <a:ext cx="457200" cy="3048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1" hangingPunct="1">
              <a:defRPr/>
            </a:pPr>
            <a:fld id="{2B75F1E6-39D7-4448-AB7B-526664EBAB87}" type="slidenum">
              <a:rPr lang="en-US" altLang="ko-KR" sz="1600" b="1" smtClean="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imes New Roman" panose="02020603050405020304" pitchFamily="18" charset="0"/>
              </a:rPr>
              <a:pPr algn="ctr" eaLnBrk="1" latinLnBrk="1" hangingPunct="1">
                <a:defRPr/>
              </a:pPr>
              <a:t>‹#›</a:t>
            </a:fld>
            <a:endParaRPr lang="en-US" altLang="ko-KR" sz="1600" b="1">
              <a:solidFill>
                <a:schemeClr val="bg1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6" r:id="rId1"/>
    <p:sldLayoutId id="2147483826" r:id="rId2"/>
    <p:sldLayoutId id="2147483827" r:id="rId3"/>
    <p:sldLayoutId id="2147483828" r:id="rId4"/>
    <p:sldLayoutId id="2147483829" r:id="rId5"/>
    <p:sldLayoutId id="2147483830" r:id="rId6"/>
    <p:sldLayoutId id="2147483831" r:id="rId7"/>
    <p:sldLayoutId id="2147483832" r:id="rId8"/>
    <p:sldLayoutId id="2147483833" r:id="rId9"/>
    <p:sldLayoutId id="2147483834" r:id="rId10"/>
    <p:sldLayoutId id="2147483835" r:id="rId11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000" b="1">
          <a:solidFill>
            <a:srgbClr val="1964B7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000" b="1">
          <a:solidFill>
            <a:srgbClr val="1964B7"/>
          </a:solidFill>
          <a:effectLst>
            <a:outerShdw blurRad="38100" dist="38100" dir="2700000" algn="tl">
              <a:srgbClr val="C0C0C0"/>
            </a:outerShdw>
          </a:effectLst>
          <a:latin typeface="굴림" pitchFamily="50" charset="-127"/>
          <a:ea typeface="굴림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000" b="1">
          <a:solidFill>
            <a:srgbClr val="1964B7"/>
          </a:solidFill>
          <a:effectLst>
            <a:outerShdw blurRad="38100" dist="38100" dir="2700000" algn="tl">
              <a:srgbClr val="C0C0C0"/>
            </a:outerShdw>
          </a:effectLst>
          <a:latin typeface="굴림" pitchFamily="50" charset="-127"/>
          <a:ea typeface="굴림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000" b="1">
          <a:solidFill>
            <a:srgbClr val="1964B7"/>
          </a:solidFill>
          <a:effectLst>
            <a:outerShdw blurRad="38100" dist="38100" dir="2700000" algn="tl">
              <a:srgbClr val="C0C0C0"/>
            </a:outerShdw>
          </a:effectLst>
          <a:latin typeface="굴림" pitchFamily="50" charset="-127"/>
          <a:ea typeface="굴림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000" b="1">
          <a:solidFill>
            <a:srgbClr val="1964B7"/>
          </a:solidFill>
          <a:effectLst>
            <a:outerShdw blurRad="38100" dist="38100" dir="2700000" algn="tl">
              <a:srgbClr val="C0C0C0"/>
            </a:outerShdw>
          </a:effectLst>
          <a:latin typeface="굴림" pitchFamily="50" charset="-127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000" b="1">
          <a:solidFill>
            <a:srgbClr val="1964B7"/>
          </a:solidFill>
          <a:effectLst>
            <a:outerShdw blurRad="38100" dist="38100" dir="2700000" algn="tl">
              <a:srgbClr val="C0C0C0"/>
            </a:outerShdw>
          </a:effectLst>
          <a:latin typeface="굴림" pitchFamily="50" charset="-127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000" b="1">
          <a:solidFill>
            <a:srgbClr val="1964B7"/>
          </a:solidFill>
          <a:effectLst>
            <a:outerShdw blurRad="38100" dist="38100" dir="2700000" algn="tl">
              <a:srgbClr val="C0C0C0"/>
            </a:outerShdw>
          </a:effectLst>
          <a:latin typeface="굴림" pitchFamily="50" charset="-127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000" b="1">
          <a:solidFill>
            <a:srgbClr val="1964B7"/>
          </a:solidFill>
          <a:effectLst>
            <a:outerShdw blurRad="38100" dist="38100" dir="2700000" algn="tl">
              <a:srgbClr val="C0C0C0"/>
            </a:outerShdw>
          </a:effectLst>
          <a:latin typeface="굴림" pitchFamily="50" charset="-127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000" b="1">
          <a:solidFill>
            <a:srgbClr val="1964B7"/>
          </a:solidFill>
          <a:effectLst>
            <a:outerShdw blurRad="38100" dist="38100" dir="2700000" algn="tl">
              <a:srgbClr val="C0C0C0"/>
            </a:outerShdw>
          </a:effectLst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FF3300"/>
        </a:buClr>
        <a:buSzPct val="80000"/>
        <a:buFont typeface="Monotype Sorts" pitchFamily="2" charset="2"/>
        <a:buChar char="q"/>
        <a:defRPr kumimoji="1" sz="26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FF3300"/>
        </a:buClr>
        <a:buSzPct val="80000"/>
        <a:buFont typeface="Wingdings" panose="05000000000000000000" pitchFamily="2" charset="2"/>
        <a:buChar char="ü"/>
        <a:defRPr kumimoji="1" sz="2400">
          <a:solidFill>
            <a:srgbClr val="000000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FF3300"/>
        </a:buClr>
        <a:buSzPct val="80000"/>
        <a:buFont typeface="Wingdings" panose="05000000000000000000" pitchFamily="2" charset="2"/>
        <a:buChar char="Ø"/>
        <a:defRPr kumimoji="1" sz="2000">
          <a:solidFill>
            <a:srgbClr val="000000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FF3300"/>
        </a:buClr>
        <a:buSzPct val="80000"/>
        <a:buFont typeface="Wingdings" panose="05000000000000000000" pitchFamily="2" charset="2"/>
        <a:buChar char="§"/>
        <a:defRPr kumimoji="1">
          <a:solidFill>
            <a:srgbClr val="000000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FF3300"/>
        </a:buClr>
        <a:buSzPct val="80000"/>
        <a:buFont typeface="굴림" panose="020B0600000101010101" pitchFamily="50" charset="-127"/>
        <a:buChar char="−"/>
        <a:defRPr kumimoji="1" sz="1600">
          <a:solidFill>
            <a:srgbClr val="000000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rgbClr val="FF3300"/>
        </a:buClr>
        <a:buSzPct val="80000"/>
        <a:buFont typeface="굴림" pitchFamily="50" charset="-127"/>
        <a:buChar char="−"/>
        <a:defRPr kumimoji="1" sz="1600">
          <a:solidFill>
            <a:srgbClr val="000000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rgbClr val="FF3300"/>
        </a:buClr>
        <a:buSzPct val="80000"/>
        <a:buFont typeface="굴림" pitchFamily="50" charset="-127"/>
        <a:buChar char="−"/>
        <a:defRPr kumimoji="1" sz="1600">
          <a:solidFill>
            <a:srgbClr val="000000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rgbClr val="FF3300"/>
        </a:buClr>
        <a:buSzPct val="80000"/>
        <a:buFont typeface="굴림" pitchFamily="50" charset="-127"/>
        <a:buChar char="−"/>
        <a:defRPr kumimoji="1" sz="1600">
          <a:solidFill>
            <a:srgbClr val="000000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rgbClr val="FF3300"/>
        </a:buClr>
        <a:buSzPct val="80000"/>
        <a:buFont typeface="굴림" pitchFamily="50" charset="-127"/>
        <a:buChar char="−"/>
        <a:defRPr kumimoji="1" sz="16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43" name="AutoShape 3"/>
          <p:cNvSpPr>
            <a:spLocks noChangeArrowheads="1"/>
          </p:cNvSpPr>
          <p:nvPr/>
        </p:nvSpPr>
        <p:spPr bwMode="auto">
          <a:xfrm>
            <a:off x="1187450" y="3573463"/>
            <a:ext cx="6629400" cy="1600200"/>
          </a:xfrm>
          <a:prstGeom prst="ellipseRibbon2">
            <a:avLst>
              <a:gd name="adj1" fmla="val 46727"/>
              <a:gd name="adj2" fmla="val 71204"/>
              <a:gd name="adj3" fmla="val 34759"/>
            </a:avLst>
          </a:prstGeom>
          <a:noFill/>
          <a:ln w="25400">
            <a:solidFill>
              <a:srgbClr val="33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90487" tIns="44450" rIns="90487" bIns="44450" anchor="ctr"/>
          <a:lstStyle/>
          <a:p>
            <a:pPr algn="ctr" eaLnBrk="1" hangingPunct="1">
              <a:buClr>
                <a:schemeClr val="hlink"/>
              </a:buClr>
              <a:buSzPct val="80000"/>
              <a:buFont typeface="Times New Roman" pitchFamily="18" charset="0"/>
              <a:buNone/>
              <a:defRPr/>
            </a:pPr>
            <a:r>
              <a:rPr kumimoji="0" lang="ko-KR" altLang="en-US" sz="3200" b="1" dirty="0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휴먼옛체" pitchFamily="18" charset="-127"/>
                <a:ea typeface="휴먼옛체" pitchFamily="18" charset="-127"/>
              </a:rPr>
              <a:t>제 </a:t>
            </a:r>
            <a:r>
              <a:rPr kumimoji="0" lang="en-US" altLang="ko-KR" sz="3200" b="1" dirty="0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휴먼옛체" pitchFamily="18" charset="-127"/>
                <a:ea typeface="휴먼옛체" pitchFamily="18" charset="-127"/>
              </a:rPr>
              <a:t>1 </a:t>
            </a:r>
            <a:r>
              <a:rPr kumimoji="0" lang="ko-KR" altLang="en-US" sz="3200" b="1" dirty="0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휴먼옛체" pitchFamily="18" charset="-127"/>
                <a:ea typeface="휴먼옛체" pitchFamily="18" charset="-127"/>
              </a:rPr>
              <a:t>장  </a:t>
            </a:r>
            <a:r>
              <a:rPr kumimoji="0" lang="en-US" altLang="ko-KR" sz="3200" b="1" dirty="0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휴먼옛체" pitchFamily="18" charset="-127"/>
                <a:ea typeface="휴먼옛체" pitchFamily="18" charset="-127"/>
              </a:rPr>
              <a:t>C </a:t>
            </a:r>
            <a:r>
              <a:rPr kumimoji="0" lang="ko-KR" altLang="en-US" sz="3200" b="1" dirty="0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휴먼옛체" pitchFamily="18" charset="-127"/>
                <a:ea typeface="휴먼옛체" pitchFamily="18" charset="-127"/>
              </a:rPr>
              <a:t>언어의 개요</a:t>
            </a:r>
          </a:p>
        </p:txBody>
      </p:sp>
      <p:sp>
        <p:nvSpPr>
          <p:cNvPr id="471044" name="Text Box 4"/>
          <p:cNvSpPr txBox="1">
            <a:spLocks noChangeArrowheads="1"/>
          </p:cNvSpPr>
          <p:nvPr/>
        </p:nvSpPr>
        <p:spPr bwMode="auto">
          <a:xfrm>
            <a:off x="323850" y="1412875"/>
            <a:ext cx="8382000" cy="911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lIns="90487" tIns="44450" rIns="90487" bIns="44450">
            <a:spAutoFit/>
          </a:bodyPr>
          <a:lstStyle/>
          <a:p>
            <a:pPr algn="ctr" eaLnBrk="1" hangingPunct="1">
              <a:spcBef>
                <a:spcPct val="50000"/>
              </a:spcBef>
              <a:buClr>
                <a:schemeClr val="hlink"/>
              </a:buClr>
              <a:buSzPct val="80000"/>
              <a:buFont typeface="Times New Roman" pitchFamily="18" charset="0"/>
              <a:buNone/>
              <a:defRPr/>
            </a:pPr>
            <a:r>
              <a:rPr kumimoji="0" lang="en-US" altLang="ko-KR" sz="2400" b="1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D솔체" pitchFamily="18" charset="-127"/>
                <a:ea typeface="MD솔체" pitchFamily="18" charset="-127"/>
              </a:rPr>
              <a:t>(</a:t>
            </a:r>
            <a:r>
              <a:rPr kumimoji="0" lang="ko-KR" altLang="en-US" sz="2400" b="1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D솔체" pitchFamily="18" charset="-127"/>
                <a:ea typeface="MD솔체" pitchFamily="18" charset="-127"/>
              </a:rPr>
              <a:t>핵심</a:t>
            </a:r>
            <a:r>
              <a:rPr kumimoji="0" lang="en-US" altLang="ko-KR" sz="2400" b="1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D솔체" pitchFamily="18" charset="-127"/>
                <a:ea typeface="MD솔체" pitchFamily="18" charset="-127"/>
              </a:rPr>
              <a:t>)</a:t>
            </a:r>
            <a:r>
              <a:rPr kumimoji="0" lang="en-US" altLang="ko-KR" sz="5400" b="1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D솔체" pitchFamily="18" charset="-127"/>
                <a:ea typeface="MD솔체" pitchFamily="18" charset="-127"/>
              </a:rPr>
              <a:t> C </a:t>
            </a:r>
            <a:r>
              <a:rPr kumimoji="0" lang="ko-KR" altLang="en-US" sz="5400" b="1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D솔체" pitchFamily="18" charset="-127"/>
                <a:ea typeface="MD솔체" pitchFamily="18" charset="-127"/>
              </a:rPr>
              <a:t>언어 및 실습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/>
              <a:t>제 </a:t>
            </a:r>
            <a:r>
              <a:rPr lang="en-US" altLang="ko-KR"/>
              <a:t>1</a:t>
            </a:r>
            <a:r>
              <a:rPr lang="ko-KR" altLang="en-US"/>
              <a:t>장  </a:t>
            </a:r>
            <a:r>
              <a:rPr lang="en-US" altLang="ko-KR"/>
              <a:t>C </a:t>
            </a:r>
            <a:r>
              <a:rPr lang="ko-KR" altLang="en-US"/>
              <a:t>언어의 개요</a:t>
            </a:r>
            <a:r>
              <a:rPr lang="en-US" altLang="ko-KR"/>
              <a:t>(5. </a:t>
            </a:r>
            <a:r>
              <a:rPr lang="ko-KR" altLang="en-US"/>
              <a:t>표준 입출력</a:t>
            </a:r>
            <a:r>
              <a:rPr lang="en-US" altLang="ko-KR"/>
              <a:t>)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표준 입출력 함수</a:t>
            </a:r>
          </a:p>
          <a:p>
            <a:pPr lvl="1" eaLnBrk="1" hangingPunct="1"/>
            <a:r>
              <a:rPr lang="ko-KR" altLang="en-US"/>
              <a:t>데이터의 입력 장치는 키보드 </a:t>
            </a:r>
          </a:p>
          <a:p>
            <a:pPr lvl="1" eaLnBrk="1" hangingPunct="1"/>
            <a:r>
              <a:rPr lang="ko-KR" altLang="en-US"/>
              <a:t>출력 장치는 모니터 화면 </a:t>
            </a:r>
          </a:p>
          <a:p>
            <a:pPr lvl="1" eaLnBrk="1" hangingPunct="1"/>
            <a:r>
              <a:rPr lang="ko-KR" altLang="en-US"/>
              <a:t>기본적인 함수 </a:t>
            </a:r>
            <a:r>
              <a:rPr lang="en-US" altLang="ko-KR"/>
              <a:t>scanf( ) </a:t>
            </a:r>
            <a:r>
              <a:rPr lang="ko-KR" altLang="en-US"/>
              <a:t>입력함수와 </a:t>
            </a:r>
            <a:r>
              <a:rPr lang="en-US" altLang="ko-KR"/>
              <a:t>printf( ) </a:t>
            </a:r>
            <a:r>
              <a:rPr lang="ko-KR" altLang="en-US"/>
              <a:t>출력 함수 </a:t>
            </a:r>
          </a:p>
          <a:p>
            <a:pPr lvl="1" eaLnBrk="1" hangingPunct="1"/>
            <a:r>
              <a:rPr lang="ko-KR" altLang="en-US"/>
              <a:t>두 함수는 </a:t>
            </a:r>
            <a:r>
              <a:rPr lang="en-US" altLang="ko-KR"/>
              <a:t>stdio.h </a:t>
            </a:r>
            <a:r>
              <a:rPr lang="ko-KR" altLang="en-US"/>
              <a:t>헤더 파일을 추가해야만 사용 </a:t>
            </a:r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3429000"/>
            <a:ext cx="6767513" cy="261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7173" name="직사각형 1"/>
          <p:cNvSpPr>
            <a:spLocks noChangeArrowheads="1"/>
          </p:cNvSpPr>
          <p:nvPr/>
        </p:nvSpPr>
        <p:spPr bwMode="auto">
          <a:xfrm>
            <a:off x="1187450" y="3824288"/>
            <a:ext cx="6840538" cy="468312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487" tIns="44450" rIns="90487" bIns="44450"/>
          <a:lstStyle>
            <a:lvl1pPr marL="342900" indent="-342900" latinLnBrk="1">
              <a:spcBef>
                <a:spcPct val="20000"/>
              </a:spcBef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ü"/>
              <a:defRPr kumimoji="1" sz="24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Ø"/>
              <a:defRPr kumimoji="1" sz="20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/>
              <a:t>제 </a:t>
            </a:r>
            <a:r>
              <a:rPr lang="en-US" altLang="ko-KR"/>
              <a:t>1</a:t>
            </a:r>
            <a:r>
              <a:rPr lang="ko-KR" altLang="en-US"/>
              <a:t>장  </a:t>
            </a:r>
            <a:r>
              <a:rPr lang="en-US" altLang="ko-KR"/>
              <a:t>C </a:t>
            </a:r>
            <a:r>
              <a:rPr lang="ko-KR" altLang="en-US"/>
              <a:t>언어의 개요</a:t>
            </a:r>
            <a:r>
              <a:rPr lang="en-US" altLang="ko-KR"/>
              <a:t>(5. </a:t>
            </a:r>
            <a:r>
              <a:rPr lang="ko-KR" altLang="en-US"/>
              <a:t>표준 입출력</a:t>
            </a:r>
            <a:r>
              <a:rPr lang="en-US" altLang="ko-KR"/>
              <a:t>)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ESC </a:t>
            </a:r>
            <a:r>
              <a:rPr lang="ko-KR" altLang="en-US"/>
              <a:t>문자열 </a:t>
            </a:r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484313"/>
            <a:ext cx="7940675" cy="427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8197" name="직사각형 4"/>
          <p:cNvSpPr>
            <a:spLocks noChangeArrowheads="1"/>
          </p:cNvSpPr>
          <p:nvPr/>
        </p:nvSpPr>
        <p:spPr bwMode="auto">
          <a:xfrm>
            <a:off x="827088" y="2133600"/>
            <a:ext cx="7869237" cy="32385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487" tIns="44450" rIns="90487" bIns="44450"/>
          <a:lstStyle>
            <a:lvl1pPr marL="342900" indent="-342900" latinLnBrk="1">
              <a:spcBef>
                <a:spcPct val="20000"/>
              </a:spcBef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ü"/>
              <a:defRPr kumimoji="1" sz="24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Ø"/>
              <a:defRPr kumimoji="1" sz="20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/>
              <a:t>제 </a:t>
            </a:r>
            <a:r>
              <a:rPr lang="en-US" altLang="ko-KR"/>
              <a:t>1</a:t>
            </a:r>
            <a:r>
              <a:rPr lang="ko-KR" altLang="en-US"/>
              <a:t>장  </a:t>
            </a:r>
            <a:r>
              <a:rPr lang="en-US" altLang="ko-KR"/>
              <a:t>C </a:t>
            </a:r>
            <a:r>
              <a:rPr lang="ko-KR" altLang="en-US"/>
              <a:t>언어의 개요</a:t>
            </a:r>
            <a:r>
              <a:rPr lang="en-US" altLang="ko-KR"/>
              <a:t>(5. </a:t>
            </a:r>
            <a:r>
              <a:rPr lang="ko-KR" altLang="en-US"/>
              <a:t>표준 입출력</a:t>
            </a:r>
            <a:r>
              <a:rPr lang="en-US" altLang="ko-KR"/>
              <a:t>)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latin typeface="Arial" panose="020B0604020202020204" pitchFamily="34" charset="0"/>
              </a:rPr>
              <a:t> </a:t>
            </a:r>
            <a:r>
              <a:rPr lang="en-US" altLang="ko-KR"/>
              <a:t>printf</a:t>
            </a:r>
            <a:r>
              <a:rPr lang="ko-KR" altLang="en-US"/>
              <a:t>문에서의 변환 형식 </a:t>
            </a:r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412875"/>
            <a:ext cx="7345363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9221" name="직사각형 4"/>
          <p:cNvSpPr>
            <a:spLocks noChangeArrowheads="1"/>
          </p:cNvSpPr>
          <p:nvPr/>
        </p:nvSpPr>
        <p:spPr bwMode="auto">
          <a:xfrm>
            <a:off x="750888" y="2168525"/>
            <a:ext cx="7350125" cy="1008063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487" tIns="44450" rIns="90487" bIns="44450"/>
          <a:lstStyle>
            <a:lvl1pPr marL="342900" indent="-342900" latinLnBrk="1">
              <a:spcBef>
                <a:spcPct val="20000"/>
              </a:spcBef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ü"/>
              <a:defRPr kumimoji="1" sz="24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Ø"/>
              <a:defRPr kumimoji="1" sz="20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sz="2200"/>
          </a:p>
        </p:txBody>
      </p:sp>
      <p:sp>
        <p:nvSpPr>
          <p:cNvPr id="9222" name="직사각형 5"/>
          <p:cNvSpPr>
            <a:spLocks noChangeArrowheads="1"/>
          </p:cNvSpPr>
          <p:nvPr/>
        </p:nvSpPr>
        <p:spPr bwMode="auto">
          <a:xfrm>
            <a:off x="792163" y="4329113"/>
            <a:ext cx="7235825" cy="360362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487" tIns="44450" rIns="90487" bIns="44450"/>
          <a:lstStyle>
            <a:lvl1pPr marL="342900" indent="-342900" latinLnBrk="1">
              <a:spcBef>
                <a:spcPct val="20000"/>
              </a:spcBef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ü"/>
              <a:defRPr kumimoji="1" sz="24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Ø"/>
              <a:defRPr kumimoji="1" sz="20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sz="2200"/>
          </a:p>
        </p:txBody>
      </p:sp>
      <p:sp>
        <p:nvSpPr>
          <p:cNvPr id="9223" name="직사각형 6"/>
          <p:cNvSpPr>
            <a:spLocks noChangeArrowheads="1"/>
          </p:cNvSpPr>
          <p:nvPr/>
        </p:nvSpPr>
        <p:spPr bwMode="auto">
          <a:xfrm>
            <a:off x="792163" y="3608388"/>
            <a:ext cx="7235825" cy="360362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487" tIns="44450" rIns="90487" bIns="44450"/>
          <a:lstStyle>
            <a:lvl1pPr marL="342900" indent="-342900" latinLnBrk="1">
              <a:spcBef>
                <a:spcPct val="20000"/>
              </a:spcBef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ü"/>
              <a:defRPr kumimoji="1" sz="24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Ø"/>
              <a:defRPr kumimoji="1" sz="20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/>
              <a:t>제 </a:t>
            </a:r>
            <a:r>
              <a:rPr lang="en-US" altLang="ko-KR" dirty="0"/>
              <a:t>1</a:t>
            </a:r>
            <a:r>
              <a:rPr lang="ko-KR" altLang="en-US" dirty="0"/>
              <a:t>장  </a:t>
            </a:r>
            <a:r>
              <a:rPr lang="en-US" altLang="ko-KR" dirty="0"/>
              <a:t>C </a:t>
            </a:r>
            <a:r>
              <a:rPr lang="ko-KR" altLang="en-US" dirty="0"/>
              <a:t>언어의 개요</a:t>
            </a:r>
            <a:r>
              <a:rPr lang="en-US" altLang="ko-KR" dirty="0"/>
              <a:t>(5. </a:t>
            </a:r>
            <a:r>
              <a:rPr lang="ko-KR" altLang="en-US" dirty="0"/>
              <a:t>표준 입출력</a:t>
            </a:r>
            <a:r>
              <a:rPr lang="en-US" altLang="ko-KR" dirty="0"/>
              <a:t>)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sz="2200"/>
              <a:t>1.5.2 scanf( )</a:t>
            </a:r>
            <a:r>
              <a:rPr lang="ko-KR" altLang="en-US" sz="2200"/>
              <a:t>문 </a:t>
            </a:r>
          </a:p>
          <a:p>
            <a:pPr lvl="1" eaLnBrk="1" hangingPunct="1">
              <a:lnSpc>
                <a:spcPct val="90000"/>
              </a:lnSpc>
            </a:pPr>
            <a:r>
              <a:rPr lang="ko-KR" altLang="en-US" sz="2000"/>
              <a:t>키보드로부터 데이터를 입력받아 변수에 저장할 때 사용 </a:t>
            </a:r>
          </a:p>
          <a:p>
            <a:pPr lvl="1" eaLnBrk="1" hangingPunct="1">
              <a:lnSpc>
                <a:spcPct val="90000"/>
              </a:lnSpc>
            </a:pPr>
            <a:r>
              <a:rPr lang="ko-KR" altLang="en-US" sz="2000">
                <a:solidFill>
                  <a:srgbClr val="FF0000"/>
                </a:solidFill>
              </a:rPr>
              <a:t>① </a:t>
            </a:r>
            <a:r>
              <a:rPr lang="en-US" altLang="ko-KR" sz="2000">
                <a:solidFill>
                  <a:srgbClr val="FF0000"/>
                </a:solidFill>
              </a:rPr>
              <a:t>scanf("</a:t>
            </a:r>
            <a:r>
              <a:rPr lang="ko-KR" altLang="en-US" sz="2000">
                <a:solidFill>
                  <a:srgbClr val="FF0000"/>
                </a:solidFill>
              </a:rPr>
              <a:t>변수 형식</a:t>
            </a:r>
            <a:r>
              <a:rPr lang="en-US" altLang="ko-KR" sz="2000">
                <a:solidFill>
                  <a:srgbClr val="FF0000"/>
                </a:solidFill>
              </a:rPr>
              <a:t>", &amp;</a:t>
            </a:r>
            <a:r>
              <a:rPr lang="ko-KR" altLang="en-US" sz="2000">
                <a:solidFill>
                  <a:srgbClr val="FF0000"/>
                </a:solidFill>
              </a:rPr>
              <a:t>변수</a:t>
            </a:r>
            <a:r>
              <a:rPr lang="en-US" altLang="ko-KR" sz="2000">
                <a:solidFill>
                  <a:srgbClr val="FF0000"/>
                </a:solidFill>
              </a:rPr>
              <a:t>);</a:t>
            </a:r>
            <a:r>
              <a:rPr lang="en-US" altLang="ko-KR" sz="2000">
                <a:solidFill>
                  <a:srgbClr val="FF0000"/>
                </a:solidFill>
                <a:latin typeface="Arial" panose="020B0604020202020204" pitchFamily="34" charset="0"/>
              </a:rPr>
              <a:t> </a:t>
            </a:r>
            <a:r>
              <a:rPr lang="en-US" altLang="ko-KR" sz="2000">
                <a:solidFill>
                  <a:srgbClr val="FF0000"/>
                </a:solidFill>
              </a:rPr>
              <a:t> /* </a:t>
            </a:r>
            <a:r>
              <a:rPr lang="ko-KR" altLang="en-US" sz="2000">
                <a:solidFill>
                  <a:srgbClr val="FF0000"/>
                </a:solidFill>
              </a:rPr>
              <a:t>입력 데이터가 숫자나 문자*</a:t>
            </a:r>
            <a:r>
              <a:rPr lang="en-US" altLang="ko-KR" sz="2000">
                <a:solidFill>
                  <a:srgbClr val="FF0000"/>
                </a:solidFill>
              </a:rPr>
              <a:t>/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000">
                <a:solidFill>
                  <a:srgbClr val="FF0000"/>
                </a:solidFill>
              </a:rPr>
              <a:t>② scanf("</a:t>
            </a:r>
            <a:r>
              <a:rPr lang="ko-KR" altLang="en-US" sz="2000">
                <a:solidFill>
                  <a:srgbClr val="FF0000"/>
                </a:solidFill>
              </a:rPr>
              <a:t>변수 형식</a:t>
            </a:r>
            <a:r>
              <a:rPr lang="en-US" altLang="ko-KR" sz="2000">
                <a:solidFill>
                  <a:srgbClr val="FF0000"/>
                </a:solidFill>
              </a:rPr>
              <a:t>", </a:t>
            </a:r>
            <a:r>
              <a:rPr lang="ko-KR" altLang="en-US" sz="2000">
                <a:solidFill>
                  <a:srgbClr val="FF0000"/>
                </a:solidFill>
              </a:rPr>
              <a:t>변수</a:t>
            </a:r>
            <a:r>
              <a:rPr lang="en-US" altLang="ko-KR" sz="2000">
                <a:solidFill>
                  <a:srgbClr val="FF0000"/>
                </a:solidFill>
              </a:rPr>
              <a:t>);</a:t>
            </a:r>
            <a:r>
              <a:rPr lang="en-US" altLang="ko-KR" sz="2000">
                <a:solidFill>
                  <a:srgbClr val="FF0000"/>
                </a:solidFill>
                <a:latin typeface="Arial" panose="020B0604020202020204" pitchFamily="34" charset="0"/>
              </a:rPr>
              <a:t>    </a:t>
            </a:r>
            <a:r>
              <a:rPr lang="en-US" altLang="ko-KR" sz="2000">
                <a:solidFill>
                  <a:srgbClr val="FF0000"/>
                </a:solidFill>
              </a:rPr>
              <a:t> /* </a:t>
            </a:r>
            <a:r>
              <a:rPr lang="ko-KR" altLang="en-US" sz="2000">
                <a:solidFill>
                  <a:srgbClr val="FF0000"/>
                </a:solidFill>
              </a:rPr>
              <a:t>입력 데이터가 문자열 *</a:t>
            </a:r>
            <a:r>
              <a:rPr lang="en-US" altLang="ko-KR" sz="2000">
                <a:solidFill>
                  <a:srgbClr val="FF0000"/>
                </a:solidFill>
              </a:rPr>
              <a:t>/ 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2000"/>
              <a:t>      </a:t>
            </a:r>
            <a:r>
              <a:rPr lang="en-US" altLang="ko-KR" sz="2000">
                <a:latin typeface="Arial" panose="020B0604020202020204" pitchFamily="34" charset="0"/>
              </a:rPr>
              <a:t> </a:t>
            </a:r>
            <a:r>
              <a:rPr lang="en-US" altLang="ko-KR" sz="2000"/>
              <a:t>&amp;</a:t>
            </a:r>
            <a:r>
              <a:rPr lang="en-US" altLang="ko-KR" sz="2000">
                <a:latin typeface="Arial" panose="020B0604020202020204" pitchFamily="34" charset="0"/>
              </a:rPr>
              <a:t> </a:t>
            </a:r>
            <a:r>
              <a:rPr lang="en-US" altLang="ko-KR" sz="2000"/>
              <a:t>: </a:t>
            </a:r>
            <a:r>
              <a:rPr lang="ko-KR" altLang="en-US" sz="2000"/>
              <a:t>주소 연산자이므로 </a:t>
            </a:r>
            <a:r>
              <a:rPr lang="en-US" altLang="ko-KR" sz="2000"/>
              <a:t>&amp;x</a:t>
            </a:r>
            <a:r>
              <a:rPr lang="ko-KR" altLang="en-US" sz="2000"/>
              <a:t>라 하면 </a:t>
            </a:r>
            <a:r>
              <a:rPr lang="en-US" altLang="ko-KR" sz="2000"/>
              <a:t>x</a:t>
            </a:r>
            <a:r>
              <a:rPr lang="ko-KR" altLang="en-US" sz="2000"/>
              <a:t>라는 변수의 주소라고 읽음 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ko-KR" altLang="en-US" sz="2000"/>
          </a:p>
          <a:p>
            <a:pPr lvl="1" eaLnBrk="1" hangingPunct="1">
              <a:lnSpc>
                <a:spcPct val="90000"/>
              </a:lnSpc>
            </a:pPr>
            <a:r>
              <a:rPr lang="ko-KR" altLang="en-US" sz="2000"/>
              <a:t>① </a:t>
            </a:r>
            <a:r>
              <a:rPr lang="en-US" altLang="ko-KR" sz="2000"/>
              <a:t>scanf("%d\n", &amp;in_1);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000"/>
              <a:t>② scanf("%c\n", &amp;char_1);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000"/>
              <a:t>③ scanf("%s", name); 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br>
              <a:rPr lang="en-US" altLang="ko-KR" sz="2200"/>
            </a:br>
            <a:endParaRPr lang="ko-KR" altLang="en-US" sz="1800"/>
          </a:p>
        </p:txBody>
      </p:sp>
      <p:sp>
        <p:nvSpPr>
          <p:cNvPr id="7172" name="직사각형 3"/>
          <p:cNvSpPr>
            <a:spLocks noChangeArrowheads="1"/>
          </p:cNvSpPr>
          <p:nvPr/>
        </p:nvSpPr>
        <p:spPr bwMode="auto">
          <a:xfrm>
            <a:off x="1116013" y="4292600"/>
            <a:ext cx="6480175" cy="209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latinLnBrk="1" hangingPunct="1">
              <a:spcBef>
                <a:spcPct val="20000"/>
              </a:spcBef>
              <a:buClr>
                <a:srgbClr val="FF3300"/>
              </a:buClr>
              <a:buSzPct val="80000"/>
              <a:buFont typeface="Monotype Sorts" pitchFamily="2" charset="2"/>
              <a:buChar char="q"/>
              <a:defRPr/>
            </a:pPr>
            <a:r>
              <a:rPr lang="en-US" altLang="ko-KR" dirty="0"/>
              <a:t> VS 2015</a:t>
            </a:r>
            <a:r>
              <a:rPr lang="ko-KR" altLang="en-US" dirty="0"/>
              <a:t>에서 </a:t>
            </a:r>
            <a:endParaRPr lang="en-US" altLang="ko-KR" dirty="0"/>
          </a:p>
          <a:p>
            <a:pPr marL="800100" lvl="1" indent="-342900" eaLnBrk="1" latinLnBrk="1" hangingPunct="1">
              <a:spcBef>
                <a:spcPct val="20000"/>
              </a:spcBef>
              <a:buClr>
                <a:srgbClr val="FF3300"/>
              </a:buClr>
              <a:buSzPct val="80000"/>
              <a:buFont typeface="Arial" pitchFamily="34" charset="0"/>
              <a:buChar char="•"/>
              <a:defRPr/>
            </a:pPr>
            <a:r>
              <a:rPr lang="en-US" altLang="ko-KR" sz="2400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#define _CRT_SECURE_NO_WARNINGS</a:t>
            </a:r>
          </a:p>
          <a:p>
            <a:pPr marL="800100" lvl="1" indent="-342900" eaLnBrk="1" latinLnBrk="1" hangingPunct="1">
              <a:spcBef>
                <a:spcPct val="20000"/>
              </a:spcBef>
              <a:buClr>
                <a:srgbClr val="FF3300"/>
              </a:buClr>
              <a:buSzPct val="80000"/>
              <a:buFont typeface="Arial" pitchFamily="34" charset="0"/>
              <a:buChar char="•"/>
              <a:defRPr/>
            </a:pPr>
            <a:r>
              <a:rPr lang="en-US" altLang="ko-KR" sz="2000" dirty="0"/>
              <a:t> </a:t>
            </a:r>
            <a:r>
              <a:rPr lang="en-US" altLang="ko-KR" sz="2000" dirty="0" err="1">
                <a:solidFill>
                  <a:srgbClr val="FF0000"/>
                </a:solidFill>
              </a:rPr>
              <a:t>scanf</a:t>
            </a:r>
            <a:r>
              <a:rPr lang="en-US" altLang="ko-KR" sz="2000" dirty="0">
                <a:solidFill>
                  <a:srgbClr val="FF0000"/>
                </a:solidFill>
              </a:rPr>
              <a:t>("%d\n", &amp;in_1); </a:t>
            </a:r>
          </a:p>
          <a:p>
            <a:pPr lvl="1" eaLnBrk="1" latinLnBrk="1" hangingPunct="1">
              <a:spcBef>
                <a:spcPct val="20000"/>
              </a:spcBef>
              <a:buClr>
                <a:srgbClr val="FF3300"/>
              </a:buClr>
              <a:buSzPct val="80000"/>
              <a:buFont typeface="Monotype Sorts" pitchFamily="2" charset="2"/>
              <a:buNone/>
              <a:defRPr/>
            </a:pPr>
            <a:r>
              <a:rPr lang="en-US" altLang="ko-KR" dirty="0"/>
              <a:t>     </a:t>
            </a:r>
            <a:r>
              <a:rPr lang="ko-KR" altLang="en-US" dirty="0"/>
              <a:t>혹은 </a:t>
            </a:r>
            <a:endParaRPr lang="en-US" altLang="ko-KR" dirty="0"/>
          </a:p>
          <a:p>
            <a:pPr marL="800100" lvl="1" indent="-342900" eaLnBrk="1" latinLnBrk="1" hangingPunct="1">
              <a:spcBef>
                <a:spcPct val="20000"/>
              </a:spcBef>
              <a:buClr>
                <a:srgbClr val="FF3300"/>
              </a:buClr>
              <a:buSzPct val="80000"/>
              <a:buFont typeface="Arial" pitchFamily="34" charset="0"/>
              <a:buChar char="•"/>
              <a:defRPr/>
            </a:pPr>
            <a:r>
              <a:rPr lang="en-US" altLang="ko-KR" sz="2400" dirty="0"/>
              <a:t> </a:t>
            </a:r>
            <a:r>
              <a:rPr lang="en-US" altLang="ko-KR" sz="2400" dirty="0" err="1">
                <a:solidFill>
                  <a:srgbClr val="FF0000"/>
                </a:solidFill>
              </a:rPr>
              <a:t>scanf_s</a:t>
            </a:r>
            <a:r>
              <a:rPr lang="en-US" altLang="ko-KR" sz="2400" dirty="0">
                <a:solidFill>
                  <a:srgbClr val="FF0000"/>
                </a:solidFill>
              </a:rPr>
              <a:t>("%d\n", &amp;in_1, 1); 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제 </a:t>
            </a:r>
            <a:r>
              <a:rPr lang="en-US" altLang="ko-KR" dirty="0"/>
              <a:t>1</a:t>
            </a:r>
            <a:r>
              <a:rPr lang="ko-KR" altLang="en-US" dirty="0"/>
              <a:t>장  </a:t>
            </a:r>
            <a:r>
              <a:rPr lang="en-US" altLang="ko-KR" dirty="0"/>
              <a:t>C </a:t>
            </a:r>
            <a:r>
              <a:rPr lang="ko-KR" altLang="en-US" dirty="0"/>
              <a:t>언어의 개요</a:t>
            </a:r>
            <a:r>
              <a:rPr lang="en-US" altLang="ko-KR" dirty="0"/>
              <a:t>(5. </a:t>
            </a:r>
            <a:r>
              <a:rPr lang="ko-KR" altLang="en-US" dirty="0"/>
              <a:t>표준 입출력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1267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주의 사항</a:t>
            </a:r>
            <a:endParaRPr lang="en-US" altLang="ko-KR"/>
          </a:p>
          <a:p>
            <a:pPr lvl="1"/>
            <a:r>
              <a:rPr lang="en-US" altLang="ko-KR"/>
              <a:t>scanf_s( )</a:t>
            </a:r>
            <a:r>
              <a:rPr lang="ko-KR" altLang="en-US"/>
              <a:t>으로 문자열을 입력 받을 때 입력 문자의 최대 개수 명시</a:t>
            </a:r>
          </a:p>
          <a:p>
            <a:endParaRPr lang="ko-KR" altLang="en-US"/>
          </a:p>
        </p:txBody>
      </p:sp>
      <p:pic>
        <p:nvPicPr>
          <p:cNvPr id="1126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825" y="2241550"/>
            <a:ext cx="3556000" cy="446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2241550"/>
            <a:ext cx="3529013" cy="446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270" name="직사각형 6"/>
          <p:cNvSpPr>
            <a:spLocks noChangeArrowheads="1"/>
          </p:cNvSpPr>
          <p:nvPr/>
        </p:nvSpPr>
        <p:spPr bwMode="auto">
          <a:xfrm>
            <a:off x="5651500" y="4711700"/>
            <a:ext cx="2881313" cy="276225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ü"/>
              <a:defRPr kumimoji="1" sz="24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Ø"/>
              <a:defRPr kumimoji="1" sz="20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ko-KR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제 </a:t>
            </a:r>
            <a:r>
              <a:rPr lang="en-US" altLang="ko-KR" dirty="0"/>
              <a:t>1</a:t>
            </a:r>
            <a:r>
              <a:rPr lang="ko-KR" altLang="en-US" dirty="0"/>
              <a:t>장  </a:t>
            </a:r>
            <a:r>
              <a:rPr lang="en-US" altLang="ko-KR" dirty="0"/>
              <a:t>C </a:t>
            </a:r>
            <a:r>
              <a:rPr lang="ko-KR" altLang="en-US" dirty="0"/>
              <a:t>언어의 개요</a:t>
            </a:r>
            <a:r>
              <a:rPr lang="en-US" altLang="ko-KR" dirty="0"/>
              <a:t>(5. </a:t>
            </a:r>
            <a:r>
              <a:rPr lang="ko-KR" altLang="en-US" dirty="0"/>
              <a:t>표준 입출력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2291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주의 사항</a:t>
            </a:r>
            <a:r>
              <a:rPr lang="en-US" altLang="ko-KR" sz="1800">
                <a:solidFill>
                  <a:srgbClr val="FF0000"/>
                </a:solidFill>
              </a:rPr>
              <a:t>(</a:t>
            </a:r>
            <a:r>
              <a:rPr lang="ko-KR" altLang="en-US" sz="1800">
                <a:solidFill>
                  <a:srgbClr val="FF0000"/>
                </a:solidFill>
              </a:rPr>
              <a:t>엔터 키나 스페이스 문자가 버퍼에 남아 있을 때</a:t>
            </a:r>
            <a:r>
              <a:rPr lang="en-US" altLang="ko-KR" sz="1800">
                <a:solidFill>
                  <a:srgbClr val="FF0000"/>
                </a:solidFill>
              </a:rPr>
              <a:t>)</a:t>
            </a:r>
            <a:endParaRPr lang="ko-KR" altLang="en-US" sz="1800"/>
          </a:p>
        </p:txBody>
      </p:sp>
      <p:sp>
        <p:nvSpPr>
          <p:cNvPr id="12292" name="내용 개체 틀 2"/>
          <p:cNvSpPr txBox="1">
            <a:spLocks/>
          </p:cNvSpPr>
          <p:nvPr/>
        </p:nvSpPr>
        <p:spPr bwMode="auto">
          <a:xfrm>
            <a:off x="142875" y="1376363"/>
            <a:ext cx="4506913" cy="5329237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lIns="90487" tIns="44450" rIns="90487" bIns="44450"/>
          <a:lstStyle>
            <a:lvl1pPr latinLnBrk="1">
              <a:spcBef>
                <a:spcPct val="20000"/>
              </a:spcBef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ü"/>
              <a:defRPr kumimoji="1" sz="24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Ø"/>
              <a:defRPr kumimoji="1" sz="20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ko-KR" sz="1400" dirty="0"/>
              <a:t>#include &lt;</a:t>
            </a:r>
            <a:r>
              <a:rPr lang="en-US" altLang="ko-KR" sz="1400" dirty="0" err="1"/>
              <a:t>stdio.h</a:t>
            </a:r>
            <a:r>
              <a:rPr lang="en-US" altLang="ko-KR" sz="1400" dirty="0"/>
              <a:t>&gt;</a:t>
            </a:r>
          </a:p>
          <a:p>
            <a:pPr>
              <a:buFont typeface="Monotype Sorts" pitchFamily="2" charset="2"/>
              <a:buNone/>
            </a:pPr>
            <a:r>
              <a:rPr lang="en-US" altLang="ko-KR" sz="1400" dirty="0"/>
              <a:t> </a:t>
            </a:r>
          </a:p>
          <a:p>
            <a:pPr>
              <a:buFont typeface="Monotype Sorts" pitchFamily="2" charset="2"/>
              <a:buNone/>
            </a:pPr>
            <a:r>
              <a:rPr lang="en-US" altLang="ko-KR" sz="1400" dirty="0"/>
              <a:t>void main()</a:t>
            </a:r>
            <a:br>
              <a:rPr lang="en-US" altLang="ko-KR" sz="1400" dirty="0"/>
            </a:br>
            <a:r>
              <a:rPr lang="en-US" altLang="ko-KR" sz="1400" dirty="0"/>
              <a:t>{</a:t>
            </a:r>
            <a:br>
              <a:rPr lang="en-US" altLang="ko-KR" sz="1400" dirty="0"/>
            </a:br>
            <a:r>
              <a:rPr lang="en-US" altLang="ko-KR" sz="1400" dirty="0"/>
              <a:t>          char blood;</a:t>
            </a:r>
            <a:br>
              <a:rPr lang="en-US" altLang="ko-KR" sz="1400" dirty="0"/>
            </a:br>
            <a:r>
              <a:rPr lang="en-US" altLang="ko-KR" sz="1400" dirty="0"/>
              <a:t>          int age;</a:t>
            </a:r>
          </a:p>
          <a:p>
            <a:pPr>
              <a:buFont typeface="Monotype Sorts" pitchFamily="2" charset="2"/>
              <a:buNone/>
            </a:pPr>
            <a:r>
              <a:rPr lang="en-US" altLang="ko-KR" sz="1400" dirty="0"/>
              <a:t> </a:t>
            </a:r>
            <a:br>
              <a:rPr lang="en-US" altLang="ko-KR" sz="1400" dirty="0"/>
            </a:br>
            <a:r>
              <a:rPr lang="en-US" altLang="ko-KR" sz="1400" dirty="0"/>
              <a:t>           </a:t>
            </a:r>
            <a:r>
              <a:rPr lang="en-US" altLang="ko-KR" sz="1400" dirty="0" err="1"/>
              <a:t>printf</a:t>
            </a:r>
            <a:r>
              <a:rPr lang="en-US" altLang="ko-KR" sz="1400" dirty="0"/>
              <a:t>("</a:t>
            </a:r>
            <a:r>
              <a:rPr lang="ko-KR" altLang="en-US" sz="1400" dirty="0"/>
              <a:t>나이 입력</a:t>
            </a:r>
            <a:r>
              <a:rPr lang="en-US" altLang="ko-KR" sz="1400" dirty="0"/>
              <a:t>: ");</a:t>
            </a:r>
            <a:br>
              <a:rPr lang="en-US" altLang="ko-KR" sz="1400" dirty="0"/>
            </a:br>
            <a:r>
              <a:rPr lang="en-US" altLang="ko-KR" sz="1400" dirty="0"/>
              <a:t>           </a:t>
            </a:r>
            <a:r>
              <a:rPr lang="en-US" altLang="ko-KR" sz="1400" dirty="0" err="1"/>
              <a:t>scanf</a:t>
            </a:r>
            <a:r>
              <a:rPr lang="en-US" altLang="ko-KR" sz="1400" dirty="0"/>
              <a:t>("%</a:t>
            </a:r>
            <a:r>
              <a:rPr lang="en-US" altLang="ko-KR" sz="1400" dirty="0" err="1"/>
              <a:t>d",&amp;age</a:t>
            </a:r>
            <a:r>
              <a:rPr lang="en-US" altLang="ko-KR" sz="1400" dirty="0"/>
              <a:t>);</a:t>
            </a:r>
            <a:br>
              <a:rPr lang="en-US" altLang="ko-KR" sz="1400" dirty="0"/>
            </a:br>
            <a:endParaRPr lang="en-US" altLang="ko-KR" sz="1400" dirty="0"/>
          </a:p>
          <a:p>
            <a:pPr>
              <a:buFont typeface="Monotype Sorts" pitchFamily="2" charset="2"/>
              <a:buNone/>
            </a:pPr>
            <a:r>
              <a:rPr lang="en-US" altLang="ko-KR" sz="1400" dirty="0"/>
              <a:t>          </a:t>
            </a:r>
            <a:r>
              <a:rPr lang="en-US" altLang="ko-KR" sz="1400" dirty="0">
                <a:solidFill>
                  <a:srgbClr val="FF0000"/>
                </a:solidFill>
              </a:rPr>
              <a:t> </a:t>
            </a:r>
            <a:r>
              <a:rPr lang="en-US" altLang="ko-KR" sz="1400" dirty="0" err="1">
                <a:solidFill>
                  <a:srgbClr val="FF0000"/>
                </a:solidFill>
              </a:rPr>
              <a:t>fflush</a:t>
            </a:r>
            <a:r>
              <a:rPr lang="en-US" altLang="ko-KR" sz="1400" dirty="0">
                <a:solidFill>
                  <a:srgbClr val="FF0000"/>
                </a:solidFill>
              </a:rPr>
              <a:t>(stdin); </a:t>
            </a:r>
            <a:r>
              <a:rPr lang="en-US" altLang="ko-KR" sz="1400" dirty="0"/>
              <a:t>    // </a:t>
            </a:r>
            <a:r>
              <a:rPr lang="ko-KR" altLang="en-US" sz="1400" dirty="0"/>
              <a:t>버퍼공간을 비움 </a:t>
            </a:r>
            <a:endParaRPr lang="en-US" altLang="ko-KR" sz="1400" dirty="0"/>
          </a:p>
          <a:p>
            <a:pPr>
              <a:buFont typeface="Monotype Sorts" pitchFamily="2" charset="2"/>
              <a:buNone/>
            </a:pPr>
            <a:r>
              <a:rPr lang="en-US" altLang="ko-KR" sz="1400" dirty="0"/>
              <a:t>                                // </a:t>
            </a:r>
            <a:r>
              <a:rPr lang="ko-KR" altLang="en-US" sz="1400" dirty="0"/>
              <a:t>혹은 </a:t>
            </a:r>
            <a:r>
              <a:rPr lang="en-US" altLang="ko-KR" sz="1400" dirty="0" err="1">
                <a:solidFill>
                  <a:srgbClr val="FF0000"/>
                </a:solidFill>
              </a:rPr>
              <a:t>getchar</a:t>
            </a:r>
            <a:r>
              <a:rPr lang="en-US" altLang="ko-KR" sz="1400" dirty="0">
                <a:solidFill>
                  <a:srgbClr val="FF0000"/>
                </a:solidFill>
              </a:rPr>
              <a:t>( )</a:t>
            </a:r>
            <a:endParaRPr lang="ko-KR" altLang="en-US" sz="1400" dirty="0">
              <a:solidFill>
                <a:srgbClr val="FF0000"/>
              </a:solidFill>
            </a:endParaRPr>
          </a:p>
          <a:p>
            <a:pPr>
              <a:buFont typeface="Monotype Sorts" pitchFamily="2" charset="2"/>
              <a:buNone/>
            </a:pPr>
            <a:r>
              <a:rPr lang="ko-KR" altLang="en-US" sz="1400" dirty="0"/>
              <a:t>          </a:t>
            </a:r>
            <a:r>
              <a:rPr lang="en-US" altLang="ko-KR" sz="1400" dirty="0" err="1"/>
              <a:t>printf</a:t>
            </a:r>
            <a:r>
              <a:rPr lang="en-US" altLang="ko-KR" sz="1400" dirty="0"/>
              <a:t>("</a:t>
            </a:r>
            <a:r>
              <a:rPr lang="ko-KR" altLang="en-US" sz="1400" dirty="0"/>
              <a:t>혈액형 입력 </a:t>
            </a:r>
            <a:r>
              <a:rPr lang="en-US" altLang="ko-KR" sz="1400" dirty="0"/>
              <a:t>: ");</a:t>
            </a:r>
            <a:br>
              <a:rPr lang="en-US" altLang="ko-KR" sz="1400" dirty="0"/>
            </a:br>
            <a:r>
              <a:rPr lang="en-US" altLang="ko-KR" sz="1400" dirty="0"/>
              <a:t>          </a:t>
            </a:r>
            <a:r>
              <a:rPr lang="en-US" altLang="ko-KR" sz="1400" dirty="0" err="1"/>
              <a:t>scanf</a:t>
            </a:r>
            <a:r>
              <a:rPr lang="en-US" altLang="ko-KR" sz="1400" dirty="0"/>
              <a:t>("%</a:t>
            </a:r>
            <a:r>
              <a:rPr lang="en-US" altLang="ko-KR" sz="1400" dirty="0" err="1"/>
              <a:t>c",&amp;blood</a:t>
            </a:r>
            <a:r>
              <a:rPr lang="en-US" altLang="ko-KR" sz="1400" dirty="0"/>
              <a:t>);</a:t>
            </a:r>
          </a:p>
          <a:p>
            <a:pPr>
              <a:buFont typeface="Monotype Sorts" pitchFamily="2" charset="2"/>
              <a:buNone/>
            </a:pPr>
            <a:r>
              <a:rPr lang="en-US" altLang="ko-KR" sz="1400" dirty="0"/>
              <a:t> </a:t>
            </a:r>
          </a:p>
          <a:p>
            <a:pPr>
              <a:buFont typeface="Monotype Sorts" pitchFamily="2" charset="2"/>
              <a:buNone/>
            </a:pPr>
            <a:r>
              <a:rPr lang="en-US" altLang="ko-KR" sz="1400" dirty="0"/>
              <a:t>           </a:t>
            </a:r>
            <a:r>
              <a:rPr lang="en-US" altLang="ko-KR" sz="1400" dirty="0" err="1"/>
              <a:t>printf</a:t>
            </a:r>
            <a:r>
              <a:rPr lang="en-US" altLang="ko-KR" sz="1400" dirty="0"/>
              <a:t>("</a:t>
            </a:r>
            <a:r>
              <a:rPr lang="ko-KR" altLang="en-US" sz="1400" dirty="0"/>
              <a:t>나이 </a:t>
            </a:r>
            <a:r>
              <a:rPr lang="en-US" altLang="ko-KR" sz="1400" dirty="0"/>
              <a:t>: %d, </a:t>
            </a:r>
            <a:r>
              <a:rPr lang="ko-KR" altLang="en-US" sz="1400" dirty="0"/>
              <a:t>혈액 </a:t>
            </a:r>
            <a:r>
              <a:rPr lang="en-US" altLang="ko-KR" sz="1400" dirty="0"/>
              <a:t>: %c\n",</a:t>
            </a:r>
            <a:r>
              <a:rPr lang="en-US" altLang="ko-KR" sz="1400" dirty="0" err="1"/>
              <a:t>age,blood</a:t>
            </a:r>
            <a:r>
              <a:rPr lang="en-US" altLang="ko-KR" sz="1400" dirty="0"/>
              <a:t>);</a:t>
            </a:r>
          </a:p>
          <a:p>
            <a:pPr>
              <a:buFont typeface="Monotype Sorts" pitchFamily="2" charset="2"/>
              <a:buNone/>
            </a:pPr>
            <a:r>
              <a:rPr lang="en-US" altLang="ko-KR" sz="1400" dirty="0"/>
              <a:t> </a:t>
            </a:r>
            <a:br>
              <a:rPr lang="en-US" altLang="ko-KR" sz="1400" dirty="0"/>
            </a:br>
            <a:r>
              <a:rPr lang="en-US" altLang="ko-KR" sz="1400" dirty="0"/>
              <a:t>}</a:t>
            </a:r>
          </a:p>
          <a:p>
            <a:pPr>
              <a:buFont typeface="Monotype Sorts" pitchFamily="2" charset="2"/>
              <a:buNone/>
            </a:pPr>
            <a:r>
              <a:rPr lang="en-US" altLang="ko-KR" sz="1400" dirty="0"/>
              <a:t>/* </a:t>
            </a:r>
            <a:r>
              <a:rPr lang="en-US" altLang="ko-KR" sz="1400" dirty="0" err="1"/>
              <a:t>fflush</a:t>
            </a:r>
            <a:r>
              <a:rPr lang="en-US" altLang="ko-KR" sz="1400" dirty="0"/>
              <a:t>(stdin) </a:t>
            </a:r>
            <a:r>
              <a:rPr lang="ko-KR" altLang="en-US" sz="1400" dirty="0"/>
              <a:t>함수로 버퍼를 비움</a:t>
            </a:r>
            <a:endParaRPr lang="ko-KR" altLang="en-US" dirty="0"/>
          </a:p>
        </p:txBody>
      </p:sp>
      <p:sp>
        <p:nvSpPr>
          <p:cNvPr id="12293" name="내용 개체 틀 2"/>
          <p:cNvSpPr txBox="1">
            <a:spLocks/>
          </p:cNvSpPr>
          <p:nvPr/>
        </p:nvSpPr>
        <p:spPr bwMode="gray">
          <a:xfrm>
            <a:off x="4751388" y="1376363"/>
            <a:ext cx="4289425" cy="5329237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ü"/>
              <a:defRPr kumimoji="1" sz="24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Ø"/>
              <a:defRPr kumimoji="1" sz="20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#include &lt;</a:t>
            </a:r>
            <a:r>
              <a:rPr lang="en-US" altLang="ko-KR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stdio.h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</a:p>
          <a:p>
            <a:pPr eaLnBrk="1" hangingPunct="1"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 </a:t>
            </a:r>
          </a:p>
          <a:p>
            <a:pPr eaLnBrk="1" hangingPunct="1"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void main()</a:t>
            </a:r>
            <a:b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{</a:t>
            </a:r>
            <a:b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          char blood;</a:t>
            </a:r>
            <a:b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          int age;</a:t>
            </a:r>
          </a:p>
          <a:p>
            <a:pPr eaLnBrk="1" hangingPunct="1"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 </a:t>
            </a:r>
            <a:b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           </a:t>
            </a:r>
            <a:r>
              <a:rPr lang="en-US" altLang="ko-KR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printf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("</a:t>
            </a: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나이 입력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");</a:t>
            </a:r>
            <a:b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           </a:t>
            </a:r>
            <a:r>
              <a:rPr lang="en-US" altLang="ko-KR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scanf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("%</a:t>
            </a:r>
            <a:r>
              <a:rPr lang="en-US" altLang="ko-KR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d",&amp;age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);</a:t>
            </a:r>
            <a:b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endParaRPr lang="en-US" altLang="ko-KR" sz="14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hangingPunct="1"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         </a:t>
            </a: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 </a:t>
            </a:r>
            <a:r>
              <a:rPr lang="en-US" altLang="ko-KR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printf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("</a:t>
            </a: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혈액형 입력 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");</a:t>
            </a:r>
            <a:b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         </a:t>
            </a:r>
            <a:r>
              <a:rPr lang="en-US" altLang="ko-KR" sz="14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scanf</a:t>
            </a:r>
            <a:r>
              <a:rPr lang="en-US" altLang="ko-KR" sz="14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(“ %</a:t>
            </a:r>
            <a:r>
              <a:rPr lang="en-US" altLang="ko-KR" sz="140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c",&amp;blood</a:t>
            </a:r>
            <a:r>
              <a:rPr lang="en-US" altLang="ko-KR" sz="14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);</a:t>
            </a:r>
          </a:p>
          <a:p>
            <a:pPr eaLnBrk="1" hangingPunct="1"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 </a:t>
            </a:r>
          </a:p>
          <a:p>
            <a:pPr eaLnBrk="1" hangingPunct="1"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          </a:t>
            </a:r>
            <a:r>
              <a:rPr lang="en-US" altLang="ko-KR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printf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("</a:t>
            </a: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나이 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%d, </a:t>
            </a: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혈액 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%c\n",</a:t>
            </a:r>
            <a:r>
              <a:rPr lang="en-US" altLang="ko-KR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age,blood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);</a:t>
            </a:r>
          </a:p>
          <a:p>
            <a:pPr eaLnBrk="1" hangingPunct="1"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 </a:t>
            </a:r>
            <a:b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}</a:t>
            </a:r>
          </a:p>
          <a:p>
            <a:pPr eaLnBrk="1" hangingPunct="1"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ko-KR" sz="14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hangingPunct="1"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/* %c  </a:t>
            </a: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형식 앞에 있는 문자는 그 자체가 들어오면 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무시함 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즉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스페이스나 </a:t>
            </a:r>
            <a:r>
              <a: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엔터</a:t>
            </a: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키를 공백으로 무시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*/</a:t>
            </a:r>
          </a:p>
          <a:p>
            <a:pPr eaLnBrk="1" hangingPunct="1">
              <a:buClr>
                <a:schemeClr val="tx2"/>
              </a:buClr>
              <a:buFont typeface="Wingdings" panose="05000000000000000000" pitchFamily="2" charset="2"/>
              <a:buNone/>
            </a:pPr>
            <a:endParaRPr lang="ko-KR" altLang="en-US" sz="2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4" name="TextBox 7"/>
          <p:cNvSpPr txBox="1">
            <a:spLocks noChangeArrowheads="1"/>
          </p:cNvSpPr>
          <p:nvPr/>
        </p:nvSpPr>
        <p:spPr bwMode="auto">
          <a:xfrm>
            <a:off x="3059113" y="2662238"/>
            <a:ext cx="1441450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ü"/>
              <a:defRPr kumimoji="1" sz="24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Ø"/>
              <a:defRPr kumimoji="1" sz="20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buFont typeface="Monotype Sorts" pitchFamily="2" charset="2"/>
              <a:buNone/>
            </a:pPr>
            <a:r>
              <a:rPr lang="en-US" altLang="ko-KR" sz="1400" b="1">
                <a:solidFill>
                  <a:schemeClr val="accent2"/>
                </a:solidFill>
              </a:rPr>
              <a:t>VS2015</a:t>
            </a:r>
            <a:r>
              <a:rPr lang="ko-KR" altLang="en-US" sz="1400" b="1">
                <a:solidFill>
                  <a:schemeClr val="accent2"/>
                </a:solidFill>
              </a:rPr>
              <a:t>에서는 </a:t>
            </a:r>
            <a:r>
              <a:rPr lang="en-US" altLang="ko-KR" sz="1400" b="1">
                <a:solidFill>
                  <a:schemeClr val="accent2"/>
                </a:solidFill>
              </a:rPr>
              <a:t>fflush( ) </a:t>
            </a:r>
            <a:r>
              <a:rPr lang="ko-KR" altLang="en-US" sz="1400" b="1">
                <a:solidFill>
                  <a:schemeClr val="accent2"/>
                </a:solidFill>
              </a:rPr>
              <a:t>사용불가</a:t>
            </a:r>
          </a:p>
        </p:txBody>
      </p:sp>
      <p:sp>
        <p:nvSpPr>
          <p:cNvPr id="12295" name="TextBox 8"/>
          <p:cNvSpPr txBox="1">
            <a:spLocks noChangeArrowheads="1"/>
          </p:cNvSpPr>
          <p:nvPr/>
        </p:nvSpPr>
        <p:spPr bwMode="auto">
          <a:xfrm>
            <a:off x="7200900" y="2068513"/>
            <a:ext cx="1727200" cy="99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ü"/>
              <a:defRPr kumimoji="1" sz="24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Ø"/>
              <a:defRPr kumimoji="1" sz="20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buFont typeface="Monotype Sorts" pitchFamily="2" charset="2"/>
              <a:buNone/>
            </a:pPr>
            <a:r>
              <a:rPr lang="ko-KR" altLang="en-US" sz="1400" b="1" dirty="0">
                <a:solidFill>
                  <a:schemeClr val="accent2"/>
                </a:solidFill>
              </a:rPr>
              <a:t>습관적으로</a:t>
            </a:r>
            <a:endParaRPr lang="en-US" altLang="ko-KR" sz="1400" b="1" dirty="0">
              <a:solidFill>
                <a:schemeClr val="accent2"/>
              </a:solidFill>
            </a:endParaRPr>
          </a:p>
          <a:p>
            <a:pPr eaLnBrk="1" hangingPunct="1">
              <a:buFont typeface="Monotype Sorts" pitchFamily="2" charset="2"/>
              <a:buNone/>
            </a:pPr>
            <a:r>
              <a:rPr lang="en-US" altLang="ko-KR" sz="1400" b="1" dirty="0">
                <a:solidFill>
                  <a:schemeClr val="accent2"/>
                </a:solidFill>
              </a:rPr>
              <a:t>“   %c” </a:t>
            </a:r>
            <a:r>
              <a:rPr lang="ko-KR" altLang="en-US" sz="1400" b="1" dirty="0">
                <a:solidFill>
                  <a:schemeClr val="accent2"/>
                </a:solidFill>
              </a:rPr>
              <a:t>나 </a:t>
            </a:r>
            <a:r>
              <a:rPr lang="en-US" altLang="ko-KR" sz="1400" b="1" dirty="0">
                <a:solidFill>
                  <a:schemeClr val="accent2"/>
                </a:solidFill>
              </a:rPr>
              <a:t>“   %d” </a:t>
            </a:r>
            <a:r>
              <a:rPr lang="ko-KR" altLang="en-US" sz="1400" b="1" dirty="0">
                <a:solidFill>
                  <a:schemeClr val="accent2"/>
                </a:solidFill>
              </a:rPr>
              <a:t>처럼 스페이스를 두는 방법이 좋음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/>
              <a:t>제 </a:t>
            </a:r>
            <a:r>
              <a:rPr lang="en-US" altLang="ko-KR"/>
              <a:t>1</a:t>
            </a:r>
            <a:r>
              <a:rPr lang="ko-KR" altLang="en-US"/>
              <a:t>장  </a:t>
            </a:r>
            <a:r>
              <a:rPr lang="en-US" altLang="ko-KR"/>
              <a:t>C </a:t>
            </a:r>
            <a:r>
              <a:rPr lang="ko-KR" altLang="en-US"/>
              <a:t>언어의 개요</a:t>
            </a:r>
            <a:r>
              <a:rPr lang="en-US" altLang="ko-KR"/>
              <a:t>(5. </a:t>
            </a:r>
            <a:r>
              <a:rPr lang="ko-KR" altLang="en-US"/>
              <a:t>표준 입출력</a:t>
            </a:r>
            <a:r>
              <a:rPr lang="en-US" altLang="ko-KR"/>
              <a:t>)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scanf</a:t>
            </a:r>
            <a:r>
              <a:rPr lang="ko-KR" altLang="en-US"/>
              <a:t>문에서의 입력 양식 </a:t>
            </a:r>
          </a:p>
        </p:txBody>
      </p:sp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163" y="1484313"/>
            <a:ext cx="7237412" cy="3673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2159000" y="4905375"/>
            <a:ext cx="1187450" cy="252413"/>
          </a:xfrm>
          <a:prstGeom prst="rect">
            <a:avLst/>
          </a:prstGeom>
          <a:noFill/>
          <a:ln w="19050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90487" tIns="44450" rIns="90487" bIns="44450" anchor="ctr"/>
          <a:lstStyle>
            <a:lvl1pPr latinLnBrk="1">
              <a:spcBef>
                <a:spcPct val="20000"/>
              </a:spcBef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ü"/>
              <a:defRPr kumimoji="1" sz="24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Ø"/>
              <a:defRPr kumimoji="1" sz="20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sz="2200"/>
          </a:p>
        </p:txBody>
      </p:sp>
      <p:sp>
        <p:nvSpPr>
          <p:cNvPr id="13318" name="Rectangle 6"/>
          <p:cNvSpPr>
            <a:spLocks noChangeArrowheads="1"/>
          </p:cNvSpPr>
          <p:nvPr/>
        </p:nvSpPr>
        <p:spPr bwMode="auto">
          <a:xfrm>
            <a:off x="2159000" y="4581525"/>
            <a:ext cx="1187450" cy="252413"/>
          </a:xfrm>
          <a:prstGeom prst="rect">
            <a:avLst/>
          </a:prstGeom>
          <a:noFill/>
          <a:ln w="19050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90487" tIns="44450" rIns="90487" bIns="44450" anchor="ctr"/>
          <a:lstStyle>
            <a:lvl1pPr latinLnBrk="1">
              <a:spcBef>
                <a:spcPct val="20000"/>
              </a:spcBef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ü"/>
              <a:defRPr kumimoji="1" sz="24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Ø"/>
              <a:defRPr kumimoji="1" sz="20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sz="2200"/>
          </a:p>
        </p:txBody>
      </p:sp>
      <p:sp>
        <p:nvSpPr>
          <p:cNvPr id="13319" name="Rectangle 7"/>
          <p:cNvSpPr>
            <a:spLocks noChangeArrowheads="1"/>
          </p:cNvSpPr>
          <p:nvPr/>
        </p:nvSpPr>
        <p:spPr bwMode="auto">
          <a:xfrm>
            <a:off x="2124075" y="3681413"/>
            <a:ext cx="1187450" cy="252412"/>
          </a:xfrm>
          <a:prstGeom prst="rect">
            <a:avLst/>
          </a:prstGeom>
          <a:noFill/>
          <a:ln w="19050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90487" tIns="44450" rIns="90487" bIns="44450" anchor="ctr"/>
          <a:lstStyle>
            <a:lvl1pPr latinLnBrk="1">
              <a:spcBef>
                <a:spcPct val="20000"/>
              </a:spcBef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ü"/>
              <a:defRPr kumimoji="1" sz="24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Ø"/>
              <a:defRPr kumimoji="1" sz="20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sz="2200"/>
          </a:p>
        </p:txBody>
      </p:sp>
      <p:sp>
        <p:nvSpPr>
          <p:cNvPr id="13320" name="Rectangle 8"/>
          <p:cNvSpPr>
            <a:spLocks noChangeArrowheads="1"/>
          </p:cNvSpPr>
          <p:nvPr/>
        </p:nvSpPr>
        <p:spPr bwMode="auto">
          <a:xfrm>
            <a:off x="2124075" y="3068638"/>
            <a:ext cx="1187450" cy="252412"/>
          </a:xfrm>
          <a:prstGeom prst="rect">
            <a:avLst/>
          </a:prstGeom>
          <a:noFill/>
          <a:ln w="19050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90487" tIns="44450" rIns="90487" bIns="44450" anchor="ctr"/>
          <a:lstStyle>
            <a:lvl1pPr latinLnBrk="1">
              <a:spcBef>
                <a:spcPct val="20000"/>
              </a:spcBef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ü"/>
              <a:defRPr kumimoji="1" sz="24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Ø"/>
              <a:defRPr kumimoji="1" sz="20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sz="2200"/>
          </a:p>
        </p:txBody>
      </p:sp>
      <p:sp>
        <p:nvSpPr>
          <p:cNvPr id="13321" name="Rectangle 9"/>
          <p:cNvSpPr>
            <a:spLocks noChangeArrowheads="1"/>
          </p:cNvSpPr>
          <p:nvPr/>
        </p:nvSpPr>
        <p:spPr bwMode="auto">
          <a:xfrm>
            <a:off x="2124075" y="2133600"/>
            <a:ext cx="1187450" cy="252413"/>
          </a:xfrm>
          <a:prstGeom prst="rect">
            <a:avLst/>
          </a:prstGeom>
          <a:noFill/>
          <a:ln w="19050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90487" tIns="44450" rIns="90487" bIns="44450" anchor="ctr"/>
          <a:lstStyle>
            <a:lvl1pPr latinLnBrk="1">
              <a:spcBef>
                <a:spcPct val="20000"/>
              </a:spcBef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ü"/>
              <a:defRPr kumimoji="1" sz="24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Ø"/>
              <a:defRPr kumimoji="1" sz="20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sz="2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43" name="AutoShape 3"/>
          <p:cNvSpPr>
            <a:spLocks noChangeArrowheads="1"/>
          </p:cNvSpPr>
          <p:nvPr/>
        </p:nvSpPr>
        <p:spPr bwMode="auto">
          <a:xfrm>
            <a:off x="1187450" y="3573463"/>
            <a:ext cx="6629400" cy="1600200"/>
          </a:xfrm>
          <a:prstGeom prst="ellipseRibbon2">
            <a:avLst>
              <a:gd name="adj1" fmla="val 46727"/>
              <a:gd name="adj2" fmla="val 71204"/>
              <a:gd name="adj3" fmla="val 34759"/>
            </a:avLst>
          </a:prstGeom>
          <a:noFill/>
          <a:ln w="25400">
            <a:solidFill>
              <a:srgbClr val="33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90487" tIns="44450" rIns="90487" bIns="44450" anchor="ctr"/>
          <a:lstStyle/>
          <a:p>
            <a:pPr algn="ctr" eaLnBrk="1" hangingPunct="1">
              <a:buClr>
                <a:schemeClr val="hlink"/>
              </a:buClr>
              <a:buSzPct val="80000"/>
              <a:buFont typeface="Times New Roman" pitchFamily="18" charset="0"/>
              <a:buNone/>
              <a:defRPr/>
            </a:pPr>
            <a:r>
              <a:rPr kumimoji="0" lang="ko-KR" altLang="en-US" sz="3200" b="1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휴먼옛체" pitchFamily="18" charset="-127"/>
                <a:ea typeface="휴먼옛체" pitchFamily="18" charset="-127"/>
              </a:rPr>
              <a:t>제 </a:t>
            </a:r>
            <a:r>
              <a:rPr kumimoji="0" lang="en-US" altLang="ko-KR" sz="3200" b="1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휴먼옛체" pitchFamily="18" charset="-127"/>
                <a:ea typeface="휴먼옛체" pitchFamily="18" charset="-127"/>
              </a:rPr>
              <a:t>2 </a:t>
            </a:r>
            <a:r>
              <a:rPr kumimoji="0" lang="ko-KR" altLang="en-US" sz="3200" b="1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휴먼옛체" pitchFamily="18" charset="-127"/>
                <a:ea typeface="휴먼옛체" pitchFamily="18" charset="-127"/>
              </a:rPr>
              <a:t>장  자 료 형</a:t>
            </a:r>
          </a:p>
        </p:txBody>
      </p:sp>
      <p:sp>
        <p:nvSpPr>
          <p:cNvPr id="471044" name="Text Box 4"/>
          <p:cNvSpPr txBox="1">
            <a:spLocks noChangeArrowheads="1"/>
          </p:cNvSpPr>
          <p:nvPr/>
        </p:nvSpPr>
        <p:spPr bwMode="auto">
          <a:xfrm>
            <a:off x="323850" y="1412875"/>
            <a:ext cx="8382000" cy="911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lIns="90487" tIns="44450" rIns="90487" bIns="44450">
            <a:spAutoFit/>
          </a:bodyPr>
          <a:lstStyle/>
          <a:p>
            <a:pPr algn="ctr" eaLnBrk="1" hangingPunct="1">
              <a:spcBef>
                <a:spcPct val="50000"/>
              </a:spcBef>
              <a:buClr>
                <a:schemeClr val="hlink"/>
              </a:buClr>
              <a:buSzPct val="80000"/>
              <a:buFont typeface="Times New Roman" pitchFamily="18" charset="0"/>
              <a:buNone/>
              <a:defRPr/>
            </a:pPr>
            <a:r>
              <a:rPr kumimoji="0" lang="en-US" altLang="ko-KR" sz="2400" b="1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D솔체" pitchFamily="18" charset="-127"/>
                <a:ea typeface="MD솔체" pitchFamily="18" charset="-127"/>
              </a:rPr>
              <a:t>(</a:t>
            </a:r>
            <a:r>
              <a:rPr kumimoji="0" lang="ko-KR" altLang="en-US" sz="2400" b="1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D솔체" pitchFamily="18" charset="-127"/>
                <a:ea typeface="MD솔체" pitchFamily="18" charset="-127"/>
              </a:rPr>
              <a:t>핵심</a:t>
            </a:r>
            <a:r>
              <a:rPr kumimoji="0" lang="en-US" altLang="ko-KR" sz="2400" b="1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D솔체" pitchFamily="18" charset="-127"/>
                <a:ea typeface="MD솔체" pitchFamily="18" charset="-127"/>
              </a:rPr>
              <a:t>)</a:t>
            </a:r>
            <a:r>
              <a:rPr kumimoji="0" lang="en-US" altLang="ko-KR" sz="5400" b="1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D솔체" pitchFamily="18" charset="-127"/>
                <a:ea typeface="MD솔체" pitchFamily="18" charset="-127"/>
              </a:rPr>
              <a:t> C </a:t>
            </a:r>
            <a:r>
              <a:rPr kumimoji="0" lang="ko-KR" altLang="en-US" sz="5400" b="1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D솔체" pitchFamily="18" charset="-127"/>
                <a:ea typeface="MD솔체" pitchFamily="18" charset="-127"/>
              </a:rPr>
              <a:t>언어 및 실습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/>
              <a:t>제 </a:t>
            </a:r>
            <a:r>
              <a:rPr lang="en-US" altLang="ko-KR"/>
              <a:t>2</a:t>
            </a:r>
            <a:r>
              <a:rPr lang="ko-KR" altLang="en-US"/>
              <a:t>장 자료형</a:t>
            </a:r>
            <a:r>
              <a:rPr lang="en-US" altLang="ko-KR"/>
              <a:t>(2. </a:t>
            </a:r>
            <a:r>
              <a:rPr lang="ko-KR" altLang="en-US"/>
              <a:t>변수의 선언</a:t>
            </a:r>
            <a:r>
              <a:rPr lang="en-US" altLang="ko-KR"/>
              <a:t>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기본 변수형과 크기  </a:t>
            </a:r>
          </a:p>
        </p:txBody>
      </p:sp>
      <p:pic>
        <p:nvPicPr>
          <p:cNvPr id="1638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163" y="1557338"/>
            <a:ext cx="7451725" cy="341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16389" name="직사각형 4"/>
          <p:cNvSpPr>
            <a:spLocks noChangeArrowheads="1"/>
          </p:cNvSpPr>
          <p:nvPr/>
        </p:nvSpPr>
        <p:spPr bwMode="auto">
          <a:xfrm>
            <a:off x="827088" y="2205038"/>
            <a:ext cx="7416800" cy="360362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487" tIns="44450" rIns="90487" bIns="44450"/>
          <a:lstStyle>
            <a:lvl1pPr marL="342900" indent="-342900" latinLnBrk="1">
              <a:spcBef>
                <a:spcPct val="20000"/>
              </a:spcBef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ü"/>
              <a:defRPr kumimoji="1" sz="24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Ø"/>
              <a:defRPr kumimoji="1" sz="20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sz="2200"/>
          </a:p>
        </p:txBody>
      </p:sp>
      <p:sp>
        <p:nvSpPr>
          <p:cNvPr id="16390" name="직사각형 5"/>
          <p:cNvSpPr>
            <a:spLocks noChangeArrowheads="1"/>
          </p:cNvSpPr>
          <p:nvPr/>
        </p:nvSpPr>
        <p:spPr bwMode="auto">
          <a:xfrm>
            <a:off x="792163" y="2924175"/>
            <a:ext cx="7451725" cy="61277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487" tIns="44450" rIns="90487" bIns="44450"/>
          <a:lstStyle>
            <a:lvl1pPr marL="342900" indent="-342900" latinLnBrk="1">
              <a:spcBef>
                <a:spcPct val="20000"/>
              </a:spcBef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ü"/>
              <a:defRPr kumimoji="1" sz="24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Ø"/>
              <a:defRPr kumimoji="1" sz="20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sz="2200"/>
          </a:p>
        </p:txBody>
      </p:sp>
      <p:sp>
        <p:nvSpPr>
          <p:cNvPr id="16391" name="직사각형 6"/>
          <p:cNvSpPr>
            <a:spLocks noChangeArrowheads="1"/>
          </p:cNvSpPr>
          <p:nvPr/>
        </p:nvSpPr>
        <p:spPr bwMode="auto">
          <a:xfrm>
            <a:off x="792163" y="4292600"/>
            <a:ext cx="7416800" cy="681038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487" tIns="44450" rIns="90487" bIns="44450"/>
          <a:lstStyle>
            <a:lvl1pPr marL="342900" indent="-342900" latinLnBrk="1">
              <a:spcBef>
                <a:spcPct val="20000"/>
              </a:spcBef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ü"/>
              <a:defRPr kumimoji="1" sz="24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Ø"/>
              <a:defRPr kumimoji="1" sz="20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sz="2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/>
              <a:t>제 </a:t>
            </a:r>
            <a:r>
              <a:rPr lang="en-US" altLang="ko-KR"/>
              <a:t>2</a:t>
            </a:r>
            <a:r>
              <a:rPr lang="ko-KR" altLang="en-US"/>
              <a:t>장 자료형</a:t>
            </a:r>
            <a:r>
              <a:rPr lang="en-US" altLang="ko-KR"/>
              <a:t>(2. </a:t>
            </a:r>
            <a:r>
              <a:rPr lang="ko-KR" altLang="en-US"/>
              <a:t>변수의 선언</a:t>
            </a:r>
            <a:r>
              <a:rPr lang="en-US" altLang="ko-KR"/>
              <a:t>)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문자형 변수 </a:t>
            </a:r>
            <a:r>
              <a:rPr lang="en-US" altLang="ko-KR"/>
              <a:t>: </a:t>
            </a:r>
            <a:r>
              <a:rPr lang="en-US" altLang="ko-KR">
                <a:latin typeface="Arial" panose="020B0604020202020204" pitchFamily="34" charset="0"/>
              </a:rPr>
              <a:t>‘</a:t>
            </a:r>
            <a:r>
              <a:rPr lang="en-US" altLang="ko-KR"/>
              <a:t> </a:t>
            </a:r>
            <a:r>
              <a:rPr lang="en-US" altLang="ko-KR">
                <a:latin typeface="Arial" panose="020B0604020202020204" pitchFamily="34" charset="0"/>
              </a:rPr>
              <a:t>’</a:t>
            </a:r>
            <a:r>
              <a:rPr lang="ko-KR" altLang="en-US"/>
              <a:t>를 사용 </a:t>
            </a:r>
            <a:endParaRPr lang="en-US" altLang="ko-KR"/>
          </a:p>
          <a:p>
            <a:pPr eaLnBrk="1" hangingPunct="1"/>
            <a:endParaRPr lang="ko-KR" altLang="en-US"/>
          </a:p>
          <a:p>
            <a:pPr eaLnBrk="1" hangingPunct="1"/>
            <a:r>
              <a:rPr lang="ko-KR" altLang="en-US"/>
              <a:t>문자열 변수 </a:t>
            </a:r>
            <a:r>
              <a:rPr lang="en-US" altLang="ko-KR"/>
              <a:t>: </a:t>
            </a:r>
          </a:p>
          <a:p>
            <a:pPr lvl="1" eaLnBrk="1" hangingPunct="1"/>
            <a:r>
              <a:rPr lang="ko-KR" altLang="en-US"/>
              <a:t>여러 개의 문자가 나열된 하나의 변수 </a:t>
            </a:r>
          </a:p>
          <a:p>
            <a:pPr lvl="1" eaLnBrk="1" hangingPunct="1"/>
            <a:r>
              <a:rPr lang="ko-KR" altLang="en-US">
                <a:latin typeface="Arial" panose="020B0604020202020204" pitchFamily="34" charset="0"/>
              </a:rPr>
              <a:t> </a:t>
            </a:r>
            <a:r>
              <a:rPr lang="ko-KR" altLang="en-US">
                <a:solidFill>
                  <a:srgbClr val="FF0000"/>
                </a:solidFill>
              </a:rPr>
              <a:t>큰 따옴표 </a:t>
            </a:r>
            <a:r>
              <a:rPr lang="ko-KR" altLang="en-US">
                <a:solidFill>
                  <a:srgbClr val="FF0000"/>
                </a:solidFill>
                <a:latin typeface="Arial" panose="020B0604020202020204" pitchFamily="34" charset="0"/>
              </a:rPr>
              <a:t>“</a:t>
            </a:r>
            <a:r>
              <a:rPr lang="ko-KR" altLang="en-US">
                <a:solidFill>
                  <a:srgbClr val="FF0000"/>
                </a:solidFill>
              </a:rPr>
              <a:t> 과 </a:t>
            </a:r>
            <a:r>
              <a:rPr lang="ko-KR" altLang="en-US">
                <a:solidFill>
                  <a:srgbClr val="FF0000"/>
                </a:solidFill>
                <a:latin typeface="Arial" panose="020B0604020202020204" pitchFamily="34" charset="0"/>
              </a:rPr>
              <a:t>”</a:t>
            </a:r>
            <a:r>
              <a:rPr lang="ko-KR" altLang="en-US">
                <a:solidFill>
                  <a:srgbClr val="FF0000"/>
                </a:solidFill>
              </a:rPr>
              <a:t>를 이용하여 표현 </a:t>
            </a:r>
          </a:p>
          <a:p>
            <a:pPr lvl="1" eaLnBrk="1" hangingPunct="1"/>
            <a:r>
              <a:rPr lang="ko-KR" altLang="en-US">
                <a:latin typeface="Arial" panose="020B0604020202020204" pitchFamily="34" charset="0"/>
              </a:rPr>
              <a:t> </a:t>
            </a:r>
            <a:r>
              <a:rPr lang="ko-KR" altLang="en-US"/>
              <a:t>데이터 저장공간은 문자형 배열을 이용 </a:t>
            </a:r>
          </a:p>
          <a:p>
            <a:pPr lvl="1" eaLnBrk="1" hangingPunct="1"/>
            <a:r>
              <a:rPr lang="ko-KR" altLang="en-US">
                <a:latin typeface="Arial" panose="020B0604020202020204" pitchFamily="34" charset="0"/>
              </a:rPr>
              <a:t> </a:t>
            </a:r>
            <a:r>
              <a:rPr lang="ko-KR" altLang="en-US"/>
              <a:t>문자열 배열의 크기가 대입되는 문자열보다 클 경우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ko-KR" altLang="en-US">
                <a:latin typeface="Arial" panose="020B0604020202020204" pitchFamily="34" charset="0"/>
              </a:rPr>
              <a:t>     </a:t>
            </a:r>
            <a:r>
              <a:rPr lang="en-US" altLang="ko-KR"/>
              <a:t>=&gt; </a:t>
            </a:r>
            <a:r>
              <a:rPr lang="ko-KR" altLang="en-US"/>
              <a:t>앞 번지부터 채워지고 이후는 </a:t>
            </a:r>
            <a:r>
              <a:rPr lang="en-US" altLang="ko-KR"/>
              <a:t>NULL </a:t>
            </a:r>
            <a:r>
              <a:rPr lang="ko-KR" altLang="en-US"/>
              <a:t>문자 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43" name="AutoShape 3"/>
          <p:cNvSpPr>
            <a:spLocks noChangeArrowheads="1"/>
          </p:cNvSpPr>
          <p:nvPr/>
        </p:nvSpPr>
        <p:spPr bwMode="auto">
          <a:xfrm>
            <a:off x="1187450" y="3573463"/>
            <a:ext cx="6629400" cy="1600200"/>
          </a:xfrm>
          <a:prstGeom prst="ellipseRibbon2">
            <a:avLst>
              <a:gd name="adj1" fmla="val 46727"/>
              <a:gd name="adj2" fmla="val 71204"/>
              <a:gd name="adj3" fmla="val 34759"/>
            </a:avLst>
          </a:prstGeom>
          <a:noFill/>
          <a:ln w="25400">
            <a:solidFill>
              <a:srgbClr val="33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90487" tIns="44450" rIns="90487" bIns="44450" anchor="ctr"/>
          <a:lstStyle/>
          <a:p>
            <a:pPr algn="ctr" eaLnBrk="1" hangingPunct="1">
              <a:buClr>
                <a:schemeClr val="hlink"/>
              </a:buClr>
              <a:buSzPct val="80000"/>
              <a:buFont typeface="Times New Roman" pitchFamily="18" charset="0"/>
              <a:buNone/>
              <a:defRPr/>
            </a:pPr>
            <a:r>
              <a:rPr kumimoji="0" lang="ko-KR" altLang="en-US" sz="3200" b="1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휴먼옛체" pitchFamily="18" charset="-127"/>
                <a:ea typeface="휴먼옛체" pitchFamily="18" charset="-127"/>
              </a:rPr>
              <a:t>제 </a:t>
            </a:r>
            <a:r>
              <a:rPr kumimoji="0" lang="en-US" altLang="ko-KR" sz="3200" b="1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휴먼옛체" pitchFamily="18" charset="-127"/>
                <a:ea typeface="휴먼옛체" pitchFamily="18" charset="-127"/>
              </a:rPr>
              <a:t>3 </a:t>
            </a:r>
            <a:r>
              <a:rPr kumimoji="0" lang="ko-KR" altLang="en-US" sz="3200" b="1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휴먼옛체" pitchFamily="18" charset="-127"/>
                <a:ea typeface="휴먼옛체" pitchFamily="18" charset="-127"/>
              </a:rPr>
              <a:t>장  연 산 자</a:t>
            </a:r>
          </a:p>
        </p:txBody>
      </p:sp>
      <p:sp>
        <p:nvSpPr>
          <p:cNvPr id="471044" name="Text Box 4"/>
          <p:cNvSpPr txBox="1">
            <a:spLocks noChangeArrowheads="1"/>
          </p:cNvSpPr>
          <p:nvPr/>
        </p:nvSpPr>
        <p:spPr bwMode="auto">
          <a:xfrm>
            <a:off x="323850" y="1412875"/>
            <a:ext cx="8382000" cy="911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lIns="90487" tIns="44450" rIns="90487" bIns="44450">
            <a:spAutoFit/>
          </a:bodyPr>
          <a:lstStyle/>
          <a:p>
            <a:pPr algn="ctr" eaLnBrk="1" hangingPunct="1">
              <a:spcBef>
                <a:spcPct val="50000"/>
              </a:spcBef>
              <a:buClr>
                <a:schemeClr val="hlink"/>
              </a:buClr>
              <a:buSzPct val="80000"/>
              <a:buFont typeface="Times New Roman" pitchFamily="18" charset="0"/>
              <a:buNone/>
              <a:defRPr/>
            </a:pPr>
            <a:r>
              <a:rPr kumimoji="0" lang="en-US" altLang="ko-KR" sz="2400" b="1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D솔체" pitchFamily="18" charset="-127"/>
                <a:ea typeface="MD솔체" pitchFamily="18" charset="-127"/>
              </a:rPr>
              <a:t>(</a:t>
            </a:r>
            <a:r>
              <a:rPr kumimoji="0" lang="ko-KR" altLang="en-US" sz="2400" b="1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D솔체" pitchFamily="18" charset="-127"/>
                <a:ea typeface="MD솔체" pitchFamily="18" charset="-127"/>
              </a:rPr>
              <a:t>핵심</a:t>
            </a:r>
            <a:r>
              <a:rPr kumimoji="0" lang="en-US" altLang="ko-KR" sz="2400" b="1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D솔체" pitchFamily="18" charset="-127"/>
                <a:ea typeface="MD솔체" pitchFamily="18" charset="-127"/>
              </a:rPr>
              <a:t>)</a:t>
            </a:r>
            <a:r>
              <a:rPr kumimoji="0" lang="en-US" altLang="ko-KR" sz="5400" b="1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D솔체" pitchFamily="18" charset="-127"/>
                <a:ea typeface="MD솔체" pitchFamily="18" charset="-127"/>
              </a:rPr>
              <a:t> C </a:t>
            </a:r>
            <a:r>
              <a:rPr kumimoji="0" lang="ko-KR" altLang="en-US" sz="5400" b="1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D솔체" pitchFamily="18" charset="-127"/>
                <a:ea typeface="MD솔체" pitchFamily="18" charset="-127"/>
              </a:rPr>
              <a:t>언어 및 실습</a:t>
            </a:r>
          </a:p>
        </p:txBody>
      </p:sp>
    </p:spTree>
    <p:extLst>
      <p:ext uri="{BB962C8B-B14F-4D97-AF65-F5344CB8AC3E}">
        <p14:creationId xmlns:p14="http://schemas.microsoft.com/office/powerpoint/2010/main" val="1191421398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/>
              <a:t>제 </a:t>
            </a:r>
            <a:r>
              <a:rPr lang="en-US" altLang="ko-KR"/>
              <a:t>3</a:t>
            </a:r>
            <a:r>
              <a:rPr lang="ko-KR" altLang="en-US"/>
              <a:t>장 연산자</a:t>
            </a:r>
            <a:r>
              <a:rPr lang="en-US" altLang="ko-KR"/>
              <a:t>(1. </a:t>
            </a:r>
            <a:r>
              <a:rPr lang="ko-KR" altLang="en-US"/>
              <a:t>산술 연산자</a:t>
            </a:r>
            <a:r>
              <a:rPr lang="en-US" altLang="ko-KR"/>
              <a:t>)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연산자 분류 </a:t>
            </a:r>
          </a:p>
        </p:txBody>
      </p:sp>
      <p:pic>
        <p:nvPicPr>
          <p:cNvPr id="2048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484313"/>
            <a:ext cx="7921625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7875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/>
              <a:t>제 </a:t>
            </a:r>
            <a:r>
              <a:rPr lang="en-US" altLang="ko-KR"/>
              <a:t>3</a:t>
            </a:r>
            <a:r>
              <a:rPr lang="ko-KR" altLang="en-US"/>
              <a:t>장 연산자</a:t>
            </a:r>
            <a:r>
              <a:rPr lang="en-US" altLang="ko-KR"/>
              <a:t>(1. </a:t>
            </a:r>
            <a:r>
              <a:rPr lang="ko-KR" altLang="en-US"/>
              <a:t>산술 연산자</a:t>
            </a:r>
            <a:r>
              <a:rPr lang="en-US" altLang="ko-KR"/>
              <a:t>)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ko-KR" altLang="en-US" sz="2200"/>
              <a:t>산술 연산자</a:t>
            </a:r>
          </a:p>
          <a:p>
            <a:pPr eaLnBrk="1" hangingPunct="1">
              <a:lnSpc>
                <a:spcPct val="90000"/>
              </a:lnSpc>
            </a:pPr>
            <a:endParaRPr lang="ko-KR" altLang="en-US" sz="2200"/>
          </a:p>
          <a:p>
            <a:pPr eaLnBrk="1" hangingPunct="1">
              <a:lnSpc>
                <a:spcPct val="90000"/>
              </a:lnSpc>
            </a:pPr>
            <a:endParaRPr lang="ko-KR" altLang="en-US" sz="2200"/>
          </a:p>
          <a:p>
            <a:pPr eaLnBrk="1" hangingPunct="1">
              <a:lnSpc>
                <a:spcPct val="90000"/>
              </a:lnSpc>
            </a:pPr>
            <a:endParaRPr lang="ko-KR" altLang="en-US" sz="2200"/>
          </a:p>
          <a:p>
            <a:pPr eaLnBrk="1" hangingPunct="1">
              <a:lnSpc>
                <a:spcPct val="90000"/>
              </a:lnSpc>
            </a:pPr>
            <a:endParaRPr lang="ko-KR" altLang="en-US" sz="2200"/>
          </a:p>
          <a:p>
            <a:pPr eaLnBrk="1" hangingPunct="1">
              <a:lnSpc>
                <a:spcPct val="90000"/>
              </a:lnSpc>
            </a:pPr>
            <a:endParaRPr lang="ko-KR" altLang="en-US" sz="2200"/>
          </a:p>
          <a:p>
            <a:pPr eaLnBrk="1" hangingPunct="1">
              <a:lnSpc>
                <a:spcPct val="90000"/>
              </a:lnSpc>
            </a:pPr>
            <a:endParaRPr lang="ko-KR" altLang="en-US" sz="2200"/>
          </a:p>
          <a:p>
            <a:pPr eaLnBrk="1" hangingPunct="1">
              <a:lnSpc>
                <a:spcPct val="90000"/>
              </a:lnSpc>
            </a:pPr>
            <a:endParaRPr lang="ko-KR" altLang="en-US" sz="2200"/>
          </a:p>
          <a:p>
            <a:pPr eaLnBrk="1" hangingPunct="1">
              <a:lnSpc>
                <a:spcPct val="90000"/>
              </a:lnSpc>
            </a:pPr>
            <a:endParaRPr lang="ko-KR" altLang="en-US" sz="2200"/>
          </a:p>
          <a:p>
            <a:pPr lvl="1" eaLnBrk="1" hangingPunct="1">
              <a:lnSpc>
                <a:spcPct val="90000"/>
              </a:lnSpc>
            </a:pPr>
            <a:r>
              <a:rPr lang="en-US" altLang="ko-KR" sz="2000"/>
              <a:t>+, -, *, /</a:t>
            </a:r>
            <a:r>
              <a:rPr lang="ko-KR" altLang="en-US" sz="2000"/>
              <a:t>는 우리가 흔히 사용하는 사칙 연산을 수행하는 연산자 </a:t>
            </a:r>
          </a:p>
          <a:p>
            <a:pPr lvl="1" eaLnBrk="1" hangingPunct="1">
              <a:lnSpc>
                <a:spcPct val="90000"/>
              </a:lnSpc>
            </a:pPr>
            <a:r>
              <a:rPr lang="ko-KR" altLang="en-US" sz="2000"/>
              <a:t>왼쪽의 변수 값에서 오른쪽 변수 값으로 연산이 이루어짐 </a:t>
            </a:r>
          </a:p>
          <a:p>
            <a:pPr lvl="1" eaLnBrk="1" hangingPunct="1">
              <a:lnSpc>
                <a:spcPct val="90000"/>
              </a:lnSpc>
            </a:pPr>
            <a:r>
              <a:rPr lang="ko-KR" altLang="en-US" sz="2000"/>
              <a:t>□ </a:t>
            </a:r>
            <a:r>
              <a:rPr lang="en-US" altLang="ko-KR" sz="2000"/>
              <a:t>printf("10/4</a:t>
            </a:r>
            <a:r>
              <a:rPr lang="ko-KR" altLang="en-US" sz="2000"/>
              <a:t>의 정수 표현 결과는 </a:t>
            </a:r>
            <a:r>
              <a:rPr lang="en-US" altLang="ko-KR" sz="2000"/>
              <a:t>%d\n", 10/4);</a:t>
            </a:r>
            <a:r>
              <a:rPr lang="en-US" altLang="ko-KR" sz="2000">
                <a:latin typeface="Arial" panose="020B0604020202020204" pitchFamily="34" charset="0"/>
              </a:rPr>
              <a:t>  </a:t>
            </a:r>
            <a:r>
              <a:rPr lang="en-US" altLang="ko-KR" sz="2000"/>
              <a:t> 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2000"/>
              <a:t>  </a:t>
            </a:r>
            <a:r>
              <a:rPr lang="en-US" altLang="ko-KR" sz="2000">
                <a:latin typeface="Arial" panose="020B0604020202020204" pitchFamily="34" charset="0"/>
              </a:rPr>
              <a:t>  </a:t>
            </a:r>
            <a:r>
              <a:rPr lang="en-US" altLang="ko-KR" sz="2000"/>
              <a:t>➡ 10/4</a:t>
            </a:r>
            <a:r>
              <a:rPr lang="ko-KR" altLang="en-US" sz="2000"/>
              <a:t>의 정수 표현 결과는 </a:t>
            </a:r>
            <a:r>
              <a:rPr lang="en-US" altLang="ko-KR" sz="2000"/>
              <a:t>2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000"/>
              <a:t>□ printf("10/4</a:t>
            </a:r>
            <a:r>
              <a:rPr lang="ko-KR" altLang="en-US" sz="2000"/>
              <a:t>의 실수 표현 결과는 </a:t>
            </a:r>
            <a:r>
              <a:rPr lang="en-US" altLang="ko-KR" sz="2000"/>
              <a:t>%f\n", (float)10/4); 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2000"/>
              <a:t> </a:t>
            </a:r>
            <a:r>
              <a:rPr lang="en-US" altLang="ko-KR" sz="2000">
                <a:latin typeface="Arial" panose="020B0604020202020204" pitchFamily="34" charset="0"/>
              </a:rPr>
              <a:t>  </a:t>
            </a:r>
            <a:r>
              <a:rPr lang="en-US" altLang="ko-KR" sz="2000"/>
              <a:t>➡ 10/4</a:t>
            </a:r>
            <a:r>
              <a:rPr lang="ko-KR" altLang="en-US" sz="2000"/>
              <a:t>의 실수 표현 결과는 </a:t>
            </a:r>
            <a:r>
              <a:rPr lang="en-US" altLang="ko-KR" sz="2000"/>
              <a:t>2.5 </a:t>
            </a:r>
          </a:p>
        </p:txBody>
      </p:sp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1449388"/>
            <a:ext cx="6419850" cy="2447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21509" name="직사각형 4"/>
          <p:cNvSpPr>
            <a:spLocks noChangeArrowheads="1"/>
          </p:cNvSpPr>
          <p:nvPr/>
        </p:nvSpPr>
        <p:spPr bwMode="auto">
          <a:xfrm>
            <a:off x="1042988" y="1557338"/>
            <a:ext cx="6419850" cy="226695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487" tIns="44450" rIns="90487" bIns="44450"/>
          <a:lstStyle>
            <a:lvl1pPr marL="342900" indent="-342900" latinLnBrk="1">
              <a:spcBef>
                <a:spcPct val="20000"/>
              </a:spcBef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ü"/>
              <a:defRPr kumimoji="1" sz="24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Ø"/>
              <a:defRPr kumimoji="1" sz="20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sz="2200"/>
          </a:p>
        </p:txBody>
      </p:sp>
    </p:spTree>
    <p:extLst>
      <p:ext uri="{BB962C8B-B14F-4D97-AF65-F5344CB8AC3E}">
        <p14:creationId xmlns:p14="http://schemas.microsoft.com/office/powerpoint/2010/main" val="5170747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/>
              <a:t>제 </a:t>
            </a:r>
            <a:r>
              <a:rPr lang="en-US" altLang="ko-KR"/>
              <a:t>3</a:t>
            </a:r>
            <a:r>
              <a:rPr lang="ko-KR" altLang="en-US"/>
              <a:t>장 연산자</a:t>
            </a:r>
            <a:r>
              <a:rPr lang="en-US" altLang="ko-KR"/>
              <a:t>(2. </a:t>
            </a:r>
            <a:r>
              <a:rPr lang="ko-KR" altLang="en-US"/>
              <a:t>비트 연산자</a:t>
            </a:r>
            <a:r>
              <a:rPr lang="en-US" altLang="ko-KR"/>
              <a:t>)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944563"/>
            <a:ext cx="8439150" cy="53752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ko-KR" altLang="en-US"/>
              <a:t>비트 연산자</a:t>
            </a:r>
            <a:r>
              <a:rPr lang="en-US" altLang="ko-KR"/>
              <a:t>(bitwise operator)  </a:t>
            </a:r>
          </a:p>
          <a:p>
            <a:pPr lvl="1" eaLnBrk="1" hangingPunct="1">
              <a:lnSpc>
                <a:spcPct val="90000"/>
              </a:lnSpc>
            </a:pPr>
            <a:r>
              <a:rPr lang="ko-KR" altLang="en-US"/>
              <a:t>비트 단위로 연산을 하는 연산자 </a:t>
            </a:r>
          </a:p>
          <a:p>
            <a:pPr lvl="1" eaLnBrk="1" hangingPunct="1">
              <a:lnSpc>
                <a:spcPct val="90000"/>
              </a:lnSpc>
            </a:pPr>
            <a:r>
              <a:rPr lang="ko-KR" altLang="en-US"/>
              <a:t>비트 단위의 논리</a:t>
            </a:r>
            <a:r>
              <a:rPr lang="en-US" altLang="ko-KR"/>
              <a:t>(logical) </a:t>
            </a:r>
            <a:r>
              <a:rPr lang="ko-KR" altLang="en-US"/>
              <a:t>연산자와 이동</a:t>
            </a:r>
            <a:r>
              <a:rPr lang="en-US" altLang="ko-KR"/>
              <a:t>(shift) </a:t>
            </a:r>
            <a:r>
              <a:rPr lang="ko-KR" altLang="en-US"/>
              <a:t>연산자</a:t>
            </a:r>
          </a:p>
          <a:p>
            <a:pPr lvl="1" eaLnBrk="1" hangingPunct="1">
              <a:lnSpc>
                <a:spcPct val="90000"/>
              </a:lnSpc>
            </a:pPr>
            <a:endParaRPr lang="ko-KR" altLang="en-US"/>
          </a:p>
          <a:p>
            <a:pPr lvl="1" eaLnBrk="1" hangingPunct="1">
              <a:lnSpc>
                <a:spcPct val="90000"/>
              </a:lnSpc>
            </a:pPr>
            <a:endParaRPr lang="ko-KR" altLang="en-US"/>
          </a:p>
          <a:p>
            <a:pPr lvl="1" eaLnBrk="1" hangingPunct="1">
              <a:lnSpc>
                <a:spcPct val="90000"/>
              </a:lnSpc>
            </a:pPr>
            <a:endParaRPr lang="ko-KR" altLang="en-US"/>
          </a:p>
          <a:p>
            <a:pPr lvl="1" eaLnBrk="1" hangingPunct="1">
              <a:lnSpc>
                <a:spcPct val="90000"/>
              </a:lnSpc>
            </a:pPr>
            <a:endParaRPr lang="ko-KR" altLang="en-US"/>
          </a:p>
          <a:p>
            <a:pPr lvl="1" eaLnBrk="1" hangingPunct="1">
              <a:lnSpc>
                <a:spcPct val="90000"/>
              </a:lnSpc>
            </a:pPr>
            <a:endParaRPr lang="ko-KR" altLang="en-US"/>
          </a:p>
          <a:p>
            <a:pPr lvl="2" eaLnBrk="1" hangingPunct="1">
              <a:lnSpc>
                <a:spcPct val="90000"/>
              </a:lnSpc>
            </a:pPr>
            <a:endParaRPr lang="en-US" altLang="ko-KR" sz="1800"/>
          </a:p>
          <a:p>
            <a:pPr lvl="2" eaLnBrk="1" hangingPunct="1">
              <a:lnSpc>
                <a:spcPct val="90000"/>
              </a:lnSpc>
            </a:pPr>
            <a:r>
              <a:rPr lang="en-US" altLang="ko-KR" sz="1800"/>
              <a:t>1</a:t>
            </a:r>
            <a:r>
              <a:rPr lang="ko-KR" altLang="en-US" sz="1800"/>
              <a:t>의 보수 연산자 </a:t>
            </a:r>
            <a:r>
              <a:rPr lang="ko-KR" altLang="en-US" sz="1800">
                <a:latin typeface="Arial" panose="020B0604020202020204" pitchFamily="34" charset="0"/>
              </a:rPr>
              <a:t>“</a:t>
            </a:r>
            <a:r>
              <a:rPr lang="en-US" altLang="ko-KR" sz="1800"/>
              <a:t>~</a:t>
            </a:r>
            <a:r>
              <a:rPr lang="en-US" altLang="ko-KR" sz="1800">
                <a:latin typeface="Arial" panose="020B0604020202020204" pitchFamily="34" charset="0"/>
              </a:rPr>
              <a:t>”</a:t>
            </a:r>
            <a:r>
              <a:rPr lang="en-US" altLang="ko-KR" sz="1800"/>
              <a:t> : </a:t>
            </a:r>
            <a:r>
              <a:rPr lang="ko-KR" altLang="en-US" sz="1800"/>
              <a:t>각 비트를 반전</a:t>
            </a:r>
            <a:r>
              <a:rPr lang="en-US" altLang="ko-KR" sz="1800"/>
              <a:t>(1</a:t>
            </a:r>
            <a:r>
              <a:rPr lang="ko-KR" altLang="en-US" sz="1800"/>
              <a:t>은 </a:t>
            </a:r>
            <a:r>
              <a:rPr lang="en-US" altLang="ko-KR" sz="1800"/>
              <a:t>0</a:t>
            </a:r>
            <a:r>
              <a:rPr lang="ko-KR" altLang="en-US" sz="1800"/>
              <a:t>로</a:t>
            </a:r>
            <a:r>
              <a:rPr lang="en-US" altLang="ko-KR" sz="1800"/>
              <a:t>, 0</a:t>
            </a:r>
            <a:r>
              <a:rPr lang="ko-KR" altLang="en-US" sz="1800"/>
              <a:t>은 </a:t>
            </a:r>
            <a:r>
              <a:rPr lang="en-US" altLang="ko-KR" sz="1800"/>
              <a:t>1</a:t>
            </a:r>
            <a:r>
              <a:rPr lang="ko-KR" altLang="en-US" sz="1800"/>
              <a:t>로</a:t>
            </a:r>
            <a:r>
              <a:rPr lang="en-US" altLang="ko-KR" sz="1800"/>
              <a:t>)</a:t>
            </a:r>
            <a:r>
              <a:rPr lang="ko-KR" altLang="en-US" sz="1800"/>
              <a:t>시키는 연산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ko-KR" sz="1800"/>
              <a:t>a&amp;b : a</a:t>
            </a:r>
            <a:r>
              <a:rPr lang="ko-KR" altLang="en-US" sz="1800"/>
              <a:t>와 </a:t>
            </a:r>
            <a:r>
              <a:rPr lang="en-US" altLang="ko-KR" sz="1800"/>
              <a:t>b</a:t>
            </a:r>
            <a:r>
              <a:rPr lang="ko-KR" altLang="en-US" sz="1800"/>
              <a:t>를 비트 단위로 </a:t>
            </a:r>
            <a:r>
              <a:rPr lang="en-US" altLang="ko-KR" sz="1800"/>
              <a:t>AND </a:t>
            </a:r>
            <a:r>
              <a:rPr lang="ko-KR" altLang="en-US" sz="1800"/>
              <a:t>연산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ko-KR" sz="1800"/>
              <a:t>^ : </a:t>
            </a:r>
            <a:r>
              <a:rPr lang="ko-KR" altLang="en-US" sz="1800"/>
              <a:t>두 비트 중 하나만 </a:t>
            </a:r>
            <a:r>
              <a:rPr lang="ko-KR" altLang="en-US" sz="1800">
                <a:latin typeface="Arial" panose="020B0604020202020204" pitchFamily="34" charset="0"/>
              </a:rPr>
              <a:t>“</a:t>
            </a:r>
            <a:r>
              <a:rPr lang="en-US" altLang="ko-KR" sz="1800"/>
              <a:t>1</a:t>
            </a:r>
            <a:r>
              <a:rPr lang="en-US" altLang="ko-KR" sz="1800">
                <a:latin typeface="Arial" panose="020B0604020202020204" pitchFamily="34" charset="0"/>
              </a:rPr>
              <a:t>”</a:t>
            </a:r>
            <a:r>
              <a:rPr lang="ko-KR" altLang="en-US" sz="1800"/>
              <a:t>이면 논리가 </a:t>
            </a:r>
            <a:r>
              <a:rPr lang="ko-KR" altLang="en-US" sz="1800">
                <a:latin typeface="Arial" panose="020B0604020202020204" pitchFamily="34" charset="0"/>
              </a:rPr>
              <a:t>“</a:t>
            </a:r>
            <a:r>
              <a:rPr lang="en-US" altLang="ko-KR" sz="1800"/>
              <a:t>1</a:t>
            </a:r>
            <a:r>
              <a:rPr lang="en-US" altLang="ko-KR" sz="1800">
                <a:latin typeface="Arial" panose="020B0604020202020204" pitchFamily="34" charset="0"/>
              </a:rPr>
              <a:t>”</a:t>
            </a:r>
            <a:r>
              <a:rPr lang="ko-KR" altLang="en-US" sz="1800"/>
              <a:t>이 되는 연산 </a:t>
            </a:r>
            <a:r>
              <a:rPr lang="en-US" altLang="ko-KR" sz="1800"/>
              <a:t>XOR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ko-KR" sz="1800"/>
              <a:t>|</a:t>
            </a:r>
            <a:r>
              <a:rPr lang="en-US" altLang="ko-KR" sz="1800">
                <a:latin typeface="Arial" panose="020B0604020202020204" pitchFamily="34" charset="0"/>
              </a:rPr>
              <a:t> </a:t>
            </a:r>
            <a:r>
              <a:rPr lang="en-US" altLang="ko-KR" sz="1800"/>
              <a:t> : </a:t>
            </a:r>
            <a:r>
              <a:rPr lang="ko-KR" altLang="en-US" sz="1800"/>
              <a:t>연산은 두 비트 중 한 비트라도 </a:t>
            </a:r>
            <a:r>
              <a:rPr lang="ko-KR" altLang="en-US" sz="1800">
                <a:latin typeface="Arial" panose="020B0604020202020204" pitchFamily="34" charset="0"/>
              </a:rPr>
              <a:t>“</a:t>
            </a:r>
            <a:r>
              <a:rPr lang="en-US" altLang="ko-KR" sz="1800"/>
              <a:t>1</a:t>
            </a:r>
            <a:r>
              <a:rPr lang="en-US" altLang="ko-KR" sz="1800">
                <a:latin typeface="Arial" panose="020B0604020202020204" pitchFamily="34" charset="0"/>
              </a:rPr>
              <a:t>”</a:t>
            </a:r>
            <a:r>
              <a:rPr lang="ko-KR" altLang="en-US" sz="1800"/>
              <a:t>이면 논리가 </a:t>
            </a:r>
            <a:r>
              <a:rPr lang="ko-KR" altLang="en-US" sz="1800">
                <a:latin typeface="Arial" panose="020B0604020202020204" pitchFamily="34" charset="0"/>
              </a:rPr>
              <a:t>“</a:t>
            </a:r>
            <a:r>
              <a:rPr lang="en-US" altLang="ko-KR" sz="1800"/>
              <a:t>1</a:t>
            </a:r>
            <a:r>
              <a:rPr lang="en-US" altLang="ko-KR" sz="1800">
                <a:latin typeface="Arial" panose="020B0604020202020204" pitchFamily="34" charset="0"/>
              </a:rPr>
              <a:t>”</a:t>
            </a:r>
            <a:r>
              <a:rPr lang="ko-KR" altLang="en-US" sz="1800"/>
              <a:t>이 되는 </a:t>
            </a:r>
            <a:r>
              <a:rPr lang="en-US" altLang="ko-KR" sz="1800"/>
              <a:t>OR  </a:t>
            </a:r>
          </a:p>
        </p:txBody>
      </p:sp>
      <p:pic>
        <p:nvPicPr>
          <p:cNvPr id="2253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938" y="2384425"/>
            <a:ext cx="6372225" cy="174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22533" name="직사각형 4"/>
          <p:cNvSpPr>
            <a:spLocks noChangeArrowheads="1"/>
          </p:cNvSpPr>
          <p:nvPr/>
        </p:nvSpPr>
        <p:spPr bwMode="auto">
          <a:xfrm>
            <a:off x="1139825" y="2384425"/>
            <a:ext cx="6419850" cy="169227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487" tIns="44450" rIns="90487" bIns="44450"/>
          <a:lstStyle>
            <a:lvl1pPr marL="342900" indent="-342900" latinLnBrk="1">
              <a:spcBef>
                <a:spcPct val="20000"/>
              </a:spcBef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ü"/>
              <a:defRPr kumimoji="1" sz="24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Ø"/>
              <a:defRPr kumimoji="1" sz="20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sz="2200"/>
          </a:p>
        </p:txBody>
      </p:sp>
    </p:spTree>
    <p:extLst>
      <p:ext uri="{BB962C8B-B14F-4D97-AF65-F5344CB8AC3E}">
        <p14:creationId xmlns:p14="http://schemas.microsoft.com/office/powerpoint/2010/main" val="2204447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/>
              <a:t>제 </a:t>
            </a:r>
            <a:r>
              <a:rPr lang="en-US" altLang="ko-KR"/>
              <a:t>3</a:t>
            </a:r>
            <a:r>
              <a:rPr lang="ko-KR" altLang="en-US"/>
              <a:t>장 연산자</a:t>
            </a:r>
            <a:r>
              <a:rPr lang="en-US" altLang="ko-KR"/>
              <a:t>(2. </a:t>
            </a:r>
            <a:r>
              <a:rPr lang="ko-KR" altLang="en-US"/>
              <a:t>비트 연산자</a:t>
            </a:r>
            <a:r>
              <a:rPr lang="en-US" altLang="ko-KR"/>
              <a:t>)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lnSpc>
                <a:spcPct val="90000"/>
              </a:lnSpc>
            </a:pPr>
            <a:r>
              <a:rPr lang="en-US" altLang="ko-KR" sz="2000"/>
              <a:t>10</a:t>
            </a:r>
            <a:r>
              <a:rPr lang="ko-KR" altLang="en-US" sz="2000"/>
              <a:t>진수의 </a:t>
            </a:r>
            <a:r>
              <a:rPr lang="en-US" altLang="ko-KR" sz="2000"/>
              <a:t>2</a:t>
            </a:r>
            <a:r>
              <a:rPr lang="ko-KR" altLang="en-US" sz="2000"/>
              <a:t>진수 표현</a:t>
            </a:r>
          </a:p>
          <a:p>
            <a:pPr lvl="1" eaLnBrk="1" hangingPunct="1">
              <a:lnSpc>
                <a:spcPct val="90000"/>
              </a:lnSpc>
            </a:pPr>
            <a:endParaRPr lang="ko-KR" altLang="en-US" sz="2000"/>
          </a:p>
          <a:p>
            <a:pPr lvl="1" eaLnBrk="1" hangingPunct="1">
              <a:lnSpc>
                <a:spcPct val="90000"/>
              </a:lnSpc>
            </a:pPr>
            <a:endParaRPr lang="ko-KR" altLang="en-US" sz="2000"/>
          </a:p>
          <a:p>
            <a:pPr lvl="1" eaLnBrk="1" hangingPunct="1">
              <a:lnSpc>
                <a:spcPct val="90000"/>
              </a:lnSpc>
            </a:pPr>
            <a:endParaRPr lang="ko-KR" altLang="en-US" sz="2000"/>
          </a:p>
          <a:p>
            <a:pPr lvl="1" eaLnBrk="1" hangingPunct="1">
              <a:lnSpc>
                <a:spcPct val="90000"/>
              </a:lnSpc>
            </a:pPr>
            <a:endParaRPr lang="ko-KR" altLang="en-US" sz="2000"/>
          </a:p>
          <a:p>
            <a:pPr lvl="1" eaLnBrk="1" hangingPunct="1">
              <a:lnSpc>
                <a:spcPct val="90000"/>
              </a:lnSpc>
            </a:pPr>
            <a:r>
              <a:rPr lang="ko-KR" altLang="en-US" sz="2000"/>
              <a:t>비트 연산자 연산 방법</a:t>
            </a:r>
          </a:p>
          <a:p>
            <a:pPr lvl="1" eaLnBrk="1" hangingPunct="1">
              <a:lnSpc>
                <a:spcPct val="90000"/>
              </a:lnSpc>
            </a:pPr>
            <a:endParaRPr lang="ko-KR" altLang="en-US" sz="2000"/>
          </a:p>
          <a:p>
            <a:pPr lvl="1" eaLnBrk="1" hangingPunct="1">
              <a:lnSpc>
                <a:spcPct val="90000"/>
              </a:lnSpc>
            </a:pPr>
            <a:endParaRPr lang="ko-KR" altLang="en-US" sz="2000"/>
          </a:p>
          <a:p>
            <a:pPr lvl="1" eaLnBrk="1" hangingPunct="1">
              <a:lnSpc>
                <a:spcPct val="90000"/>
              </a:lnSpc>
            </a:pPr>
            <a:endParaRPr lang="ko-KR" altLang="en-US" sz="2000"/>
          </a:p>
          <a:p>
            <a:pPr lvl="1" eaLnBrk="1" hangingPunct="1">
              <a:lnSpc>
                <a:spcPct val="90000"/>
              </a:lnSpc>
            </a:pPr>
            <a:endParaRPr lang="ko-KR" altLang="en-US" sz="2000"/>
          </a:p>
          <a:p>
            <a:pPr lvl="2" eaLnBrk="1" hangingPunct="1">
              <a:lnSpc>
                <a:spcPct val="90000"/>
              </a:lnSpc>
            </a:pPr>
            <a:r>
              <a:rPr lang="ko-KR" altLang="en-US" sz="1800"/>
              <a:t>예</a:t>
            </a:r>
            <a:r>
              <a:rPr lang="en-US" altLang="ko-KR" sz="1800"/>
              <a:t>) a = 10, </a:t>
            </a:r>
            <a:r>
              <a:rPr lang="ko-KR" altLang="en-US" sz="1800"/>
              <a:t>즉</a:t>
            </a:r>
            <a:r>
              <a:rPr lang="en-US" altLang="ko-KR" sz="1800"/>
              <a:t>, 1010</a:t>
            </a:r>
            <a:r>
              <a:rPr lang="en-US" altLang="ko-KR" sz="1800" baseline="-25000"/>
              <a:t>2</a:t>
            </a:r>
            <a:r>
              <a:rPr lang="en-US" altLang="ko-KR" sz="1800"/>
              <a:t>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ko-KR" sz="1800">
                <a:latin typeface="Arial" panose="020B0604020202020204" pitchFamily="34" charset="0"/>
              </a:rPr>
              <a:t>    </a:t>
            </a:r>
            <a:r>
              <a:rPr lang="en-US" altLang="ko-KR" sz="1800"/>
              <a:t>b = 9, </a:t>
            </a:r>
            <a:r>
              <a:rPr lang="ko-KR" altLang="en-US" sz="1800"/>
              <a:t>즉</a:t>
            </a:r>
            <a:r>
              <a:rPr lang="en-US" altLang="ko-KR" sz="1800"/>
              <a:t>,</a:t>
            </a:r>
            <a:r>
              <a:rPr lang="en-US" altLang="ko-KR" sz="1800">
                <a:latin typeface="Arial" panose="020B0604020202020204" pitchFamily="34" charset="0"/>
              </a:rPr>
              <a:t> </a:t>
            </a:r>
            <a:r>
              <a:rPr lang="en-US" altLang="ko-KR" sz="1800"/>
              <a:t> 1001</a:t>
            </a:r>
            <a:r>
              <a:rPr lang="en-US" altLang="ko-KR" sz="1800" baseline="-25000"/>
              <a:t>2</a:t>
            </a:r>
            <a:r>
              <a:rPr lang="en-US" altLang="ko-KR" sz="1800"/>
              <a:t>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ko-KR" sz="1800"/>
              <a:t>▲ a | b</a:t>
            </a:r>
            <a:r>
              <a:rPr lang="en-US" altLang="ko-KR" sz="1800">
                <a:latin typeface="Arial" panose="020B0604020202020204" pitchFamily="34" charset="0"/>
              </a:rPr>
              <a:t> </a:t>
            </a:r>
            <a:r>
              <a:rPr lang="en-US" altLang="ko-KR" sz="1800"/>
              <a:t> = 1011</a:t>
            </a:r>
            <a:r>
              <a:rPr lang="en-US" altLang="ko-KR" sz="1800" baseline="-25000"/>
              <a:t>2</a:t>
            </a:r>
            <a:r>
              <a:rPr lang="en-US" altLang="ko-KR" sz="1800"/>
              <a:t>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ko-KR" sz="1800"/>
              <a:t>▲ a &amp; b = 1000</a:t>
            </a:r>
            <a:r>
              <a:rPr lang="en-US" altLang="ko-KR" sz="1800" baseline="-25000"/>
              <a:t>2</a:t>
            </a:r>
            <a:r>
              <a:rPr lang="en-US" altLang="ko-KR" sz="1800"/>
              <a:t>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ko-KR" sz="1800"/>
              <a:t>▲ a ^ b</a:t>
            </a:r>
            <a:r>
              <a:rPr lang="en-US" altLang="ko-KR" sz="1800">
                <a:latin typeface="Arial" panose="020B0604020202020204" pitchFamily="34" charset="0"/>
              </a:rPr>
              <a:t> </a:t>
            </a:r>
            <a:r>
              <a:rPr lang="en-US" altLang="ko-KR" sz="1800"/>
              <a:t> = 0011</a:t>
            </a:r>
            <a:r>
              <a:rPr lang="en-US" altLang="ko-KR" sz="1800" baseline="-25000"/>
              <a:t>2</a:t>
            </a:r>
            <a:r>
              <a:rPr lang="en-US" altLang="ko-KR" sz="1800"/>
              <a:t>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ko-KR" sz="1800"/>
              <a:t>▲ ~a = 0101</a:t>
            </a:r>
            <a:r>
              <a:rPr lang="en-US" altLang="ko-KR" sz="1800" baseline="-25000"/>
              <a:t>2</a:t>
            </a:r>
            <a:r>
              <a:rPr lang="en-US" altLang="ko-KR" sz="1800"/>
              <a:t>   </a:t>
            </a:r>
          </a:p>
        </p:txBody>
      </p:sp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304925"/>
            <a:ext cx="6845300" cy="1189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pic>
        <p:nvPicPr>
          <p:cNvPr id="2355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H="1" flipV="1">
            <a:off x="1258888" y="3033713"/>
            <a:ext cx="7092950" cy="1093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647653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/>
              <a:t>제 </a:t>
            </a:r>
            <a:r>
              <a:rPr lang="en-US" altLang="ko-KR"/>
              <a:t>3</a:t>
            </a:r>
            <a:r>
              <a:rPr lang="ko-KR" altLang="en-US"/>
              <a:t>장 연산자</a:t>
            </a:r>
            <a:r>
              <a:rPr lang="en-US" altLang="ko-KR"/>
              <a:t>(2. </a:t>
            </a:r>
            <a:r>
              <a:rPr lang="ko-KR" altLang="en-US"/>
              <a:t>비트 연산자</a:t>
            </a:r>
            <a:r>
              <a:rPr lang="en-US" altLang="ko-KR"/>
              <a:t>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/>
            <a:r>
              <a:rPr lang="ko-KR" altLang="en-US">
                <a:solidFill>
                  <a:srgbClr val="FF0000"/>
                </a:solidFill>
              </a:rPr>
              <a:t>마스크</a:t>
            </a:r>
            <a:r>
              <a:rPr lang="en-US" altLang="ko-KR">
                <a:solidFill>
                  <a:srgbClr val="FF0000"/>
                </a:solidFill>
              </a:rPr>
              <a:t>(mask) : </a:t>
            </a:r>
            <a:r>
              <a:rPr lang="ko-KR" altLang="en-US">
                <a:solidFill>
                  <a:srgbClr val="FF0000"/>
                </a:solidFill>
              </a:rPr>
              <a:t>비트 연산을 이용하여 특정한 위치의 비트를 찾아내는 방법</a:t>
            </a:r>
            <a:r>
              <a:rPr lang="en-US" altLang="ko-KR">
                <a:solidFill>
                  <a:srgbClr val="FF0000"/>
                </a:solidFill>
              </a:rPr>
              <a:t>(</a:t>
            </a:r>
            <a:r>
              <a:rPr lang="ko-KR" altLang="en-US">
                <a:solidFill>
                  <a:srgbClr val="FF0000"/>
                </a:solidFill>
              </a:rPr>
              <a:t>매우 중요</a:t>
            </a:r>
            <a:r>
              <a:rPr lang="en-US" altLang="ko-KR">
                <a:solidFill>
                  <a:srgbClr val="FF0000"/>
                </a:solidFill>
              </a:rPr>
              <a:t>)</a:t>
            </a:r>
            <a:endParaRPr lang="ko-KR" altLang="en-US">
              <a:solidFill>
                <a:srgbClr val="FF0000"/>
              </a:solidFill>
            </a:endParaRPr>
          </a:p>
          <a:p>
            <a:pPr lvl="1" eaLnBrk="1" hangingPunct="1"/>
            <a:endParaRPr lang="ko-KR" altLang="en-US"/>
          </a:p>
          <a:p>
            <a:pPr lvl="2" eaLnBrk="1" hangingPunct="1"/>
            <a:r>
              <a:rPr lang="en-US" altLang="ko-KR"/>
              <a:t>AND </a:t>
            </a:r>
            <a:r>
              <a:rPr lang="ko-KR" altLang="en-US"/>
              <a:t>연산자 </a:t>
            </a:r>
            <a:r>
              <a:rPr lang="en-US" altLang="ko-KR"/>
              <a:t>: </a:t>
            </a:r>
            <a:r>
              <a:rPr lang="ko-KR" altLang="en-US"/>
              <a:t>특정 위치의 비트가 </a:t>
            </a:r>
            <a:r>
              <a:rPr lang="en-US" altLang="ko-KR"/>
              <a:t>1</a:t>
            </a:r>
            <a:r>
              <a:rPr lang="ko-KR" altLang="en-US"/>
              <a:t>이 되는지를 확인해 보는 기능을 갖고 있다</a:t>
            </a:r>
            <a:r>
              <a:rPr lang="en-US" altLang="ko-KR"/>
              <a:t>. </a:t>
            </a:r>
          </a:p>
          <a:p>
            <a:pPr lvl="3" eaLnBrk="1" hangingPunct="1"/>
            <a:r>
              <a:rPr lang="en-US" altLang="ko-KR"/>
              <a:t>a= 1101</a:t>
            </a:r>
            <a:r>
              <a:rPr lang="ko-KR" altLang="en-US"/>
              <a:t>일 때 </a:t>
            </a:r>
            <a:r>
              <a:rPr lang="en-US" altLang="ko-KR"/>
              <a:t>mask=1000 </a:t>
            </a:r>
            <a:r>
              <a:rPr lang="ko-KR" altLang="en-US"/>
              <a:t>이면 </a:t>
            </a:r>
            <a:r>
              <a:rPr lang="en-US" altLang="ko-KR"/>
              <a:t>x=a&amp;mask</a:t>
            </a:r>
            <a:r>
              <a:rPr lang="ko-KR" altLang="en-US"/>
              <a:t>를 계산</a:t>
            </a:r>
            <a:endParaRPr lang="en-US" altLang="ko-KR"/>
          </a:p>
          <a:p>
            <a:pPr lvl="3" eaLnBrk="1" hangingPunct="1"/>
            <a:endParaRPr lang="ko-KR" altLang="en-US"/>
          </a:p>
          <a:p>
            <a:pPr lvl="2" eaLnBrk="1" hangingPunct="1"/>
            <a:r>
              <a:rPr lang="en-US" altLang="ko-KR">
                <a:solidFill>
                  <a:schemeClr val="tx1"/>
                </a:solidFill>
              </a:rPr>
              <a:t>XOR </a:t>
            </a:r>
            <a:r>
              <a:rPr lang="ko-KR" altLang="en-US">
                <a:solidFill>
                  <a:schemeClr val="tx1"/>
                </a:solidFill>
              </a:rPr>
              <a:t>연산자 </a:t>
            </a:r>
            <a:r>
              <a:rPr lang="en-US" altLang="ko-KR">
                <a:solidFill>
                  <a:schemeClr val="tx1"/>
                </a:solidFill>
              </a:rPr>
              <a:t>: </a:t>
            </a:r>
            <a:r>
              <a:rPr lang="ko-KR" altLang="en-US">
                <a:solidFill>
                  <a:schemeClr val="tx1"/>
                </a:solidFill>
              </a:rPr>
              <a:t>특정 위치의 비트 값을 반대로 바꿀 수가 있음</a:t>
            </a:r>
          </a:p>
          <a:p>
            <a:pPr lvl="3" eaLnBrk="1" hangingPunct="1"/>
            <a:r>
              <a:rPr lang="en-US" altLang="ko-KR">
                <a:solidFill>
                  <a:schemeClr val="tx1"/>
                </a:solidFill>
              </a:rPr>
              <a:t>a= 1101</a:t>
            </a:r>
            <a:r>
              <a:rPr lang="ko-KR" altLang="en-US">
                <a:solidFill>
                  <a:schemeClr val="tx1"/>
                </a:solidFill>
              </a:rPr>
              <a:t>일 때 </a:t>
            </a:r>
            <a:r>
              <a:rPr lang="en-US" altLang="ko-KR">
                <a:solidFill>
                  <a:schemeClr val="tx1"/>
                </a:solidFill>
              </a:rPr>
              <a:t>mask=1000 </a:t>
            </a:r>
            <a:r>
              <a:rPr lang="ko-KR" altLang="en-US">
                <a:solidFill>
                  <a:schemeClr val="tx1"/>
                </a:solidFill>
              </a:rPr>
              <a:t>이면 </a:t>
            </a:r>
            <a:r>
              <a:rPr lang="en-US" altLang="ko-KR">
                <a:solidFill>
                  <a:schemeClr val="tx1"/>
                </a:solidFill>
              </a:rPr>
              <a:t>x=a^mask</a:t>
            </a:r>
            <a:r>
              <a:rPr lang="ko-KR" altLang="en-US">
                <a:solidFill>
                  <a:schemeClr val="tx1"/>
                </a:solidFill>
              </a:rPr>
              <a:t>를 계산</a:t>
            </a:r>
            <a:endParaRPr lang="en-US" altLang="ko-KR">
              <a:solidFill>
                <a:schemeClr val="tx1"/>
              </a:solidFill>
            </a:endParaRPr>
          </a:p>
          <a:p>
            <a:pPr lvl="3" eaLnBrk="1" hangingPunct="1"/>
            <a:endParaRPr lang="ko-KR" altLang="en-US">
              <a:solidFill>
                <a:schemeClr val="tx1"/>
              </a:solidFill>
            </a:endParaRPr>
          </a:p>
          <a:p>
            <a:pPr lvl="2" eaLnBrk="1" hangingPunct="1"/>
            <a:r>
              <a:rPr lang="en-US" altLang="ko-KR">
                <a:solidFill>
                  <a:schemeClr val="tx1"/>
                </a:solidFill>
              </a:rPr>
              <a:t>OR </a:t>
            </a:r>
            <a:r>
              <a:rPr lang="ko-KR" altLang="en-US">
                <a:solidFill>
                  <a:schemeClr val="tx1"/>
                </a:solidFill>
              </a:rPr>
              <a:t>연산자 </a:t>
            </a:r>
            <a:r>
              <a:rPr lang="en-US" altLang="ko-KR">
                <a:solidFill>
                  <a:schemeClr val="tx1"/>
                </a:solidFill>
              </a:rPr>
              <a:t>: </a:t>
            </a:r>
            <a:r>
              <a:rPr lang="ko-KR" altLang="en-US">
                <a:solidFill>
                  <a:schemeClr val="tx1"/>
                </a:solidFill>
              </a:rPr>
              <a:t>특정 위치의 값을 무조건 </a:t>
            </a:r>
            <a:r>
              <a:rPr lang="en-US" altLang="ko-KR">
                <a:solidFill>
                  <a:schemeClr val="tx1"/>
                </a:solidFill>
              </a:rPr>
              <a:t>1</a:t>
            </a:r>
            <a:r>
              <a:rPr lang="ko-KR" altLang="en-US">
                <a:solidFill>
                  <a:schemeClr val="tx1"/>
                </a:solidFill>
              </a:rPr>
              <a:t>로 만들 수 있음</a:t>
            </a:r>
          </a:p>
          <a:p>
            <a:pPr lvl="3" eaLnBrk="1" hangingPunct="1"/>
            <a:r>
              <a:rPr lang="en-US" altLang="ko-KR">
                <a:solidFill>
                  <a:schemeClr val="tx1"/>
                </a:solidFill>
              </a:rPr>
              <a:t>a= 1101</a:t>
            </a:r>
            <a:r>
              <a:rPr lang="ko-KR" altLang="en-US">
                <a:solidFill>
                  <a:schemeClr val="tx1"/>
                </a:solidFill>
              </a:rPr>
              <a:t>일 때 </a:t>
            </a:r>
            <a:r>
              <a:rPr lang="en-US" altLang="ko-KR">
                <a:solidFill>
                  <a:schemeClr val="tx1"/>
                </a:solidFill>
              </a:rPr>
              <a:t>mask=1000 </a:t>
            </a:r>
            <a:r>
              <a:rPr lang="ko-KR" altLang="en-US">
                <a:solidFill>
                  <a:schemeClr val="tx1"/>
                </a:solidFill>
              </a:rPr>
              <a:t>이면 </a:t>
            </a:r>
            <a:r>
              <a:rPr lang="en-US" altLang="ko-KR">
                <a:solidFill>
                  <a:schemeClr val="tx1"/>
                </a:solidFill>
              </a:rPr>
              <a:t>x=a | mask</a:t>
            </a:r>
            <a:r>
              <a:rPr lang="ko-KR" altLang="en-US">
                <a:solidFill>
                  <a:schemeClr val="tx1"/>
                </a:solidFill>
              </a:rPr>
              <a:t>를 계산</a:t>
            </a:r>
          </a:p>
        </p:txBody>
      </p:sp>
    </p:spTree>
    <p:extLst>
      <p:ext uri="{BB962C8B-B14F-4D97-AF65-F5344CB8AC3E}">
        <p14:creationId xmlns:p14="http://schemas.microsoft.com/office/powerpoint/2010/main" val="31810535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/>
              <a:t>제 </a:t>
            </a:r>
            <a:r>
              <a:rPr lang="en-US" altLang="ko-KR"/>
              <a:t>3</a:t>
            </a:r>
            <a:r>
              <a:rPr lang="ko-KR" altLang="en-US"/>
              <a:t>장 연산자</a:t>
            </a:r>
            <a:r>
              <a:rPr lang="en-US" altLang="ko-KR"/>
              <a:t>(2. </a:t>
            </a:r>
            <a:r>
              <a:rPr lang="ko-KR" altLang="en-US"/>
              <a:t>비트 연산자</a:t>
            </a:r>
            <a:r>
              <a:rPr lang="en-US" altLang="ko-KR"/>
              <a:t>)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ko-KR" altLang="ko-KR"/>
          </a:p>
        </p:txBody>
      </p:sp>
      <p:pic>
        <p:nvPicPr>
          <p:cNvPr id="2560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5408613"/>
            <a:ext cx="5832475" cy="1163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pic>
        <p:nvPicPr>
          <p:cNvPr id="25605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0" y="1016000"/>
            <a:ext cx="5832475" cy="432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710255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/>
              <a:t>제 </a:t>
            </a:r>
            <a:r>
              <a:rPr lang="en-US" altLang="ko-KR"/>
              <a:t>3</a:t>
            </a:r>
            <a:r>
              <a:rPr lang="ko-KR" altLang="en-US"/>
              <a:t>장 연산자</a:t>
            </a:r>
            <a:r>
              <a:rPr lang="en-US" altLang="ko-KR"/>
              <a:t>(2. </a:t>
            </a:r>
            <a:r>
              <a:rPr lang="ko-KR" altLang="en-US"/>
              <a:t>비트 연산자</a:t>
            </a:r>
            <a:r>
              <a:rPr lang="en-US" altLang="ko-KR"/>
              <a:t>)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defRPr/>
            </a:pPr>
            <a:r>
              <a:rPr lang="ko-KR" altLang="en-US" dirty="0"/>
              <a:t>왼쪽 이동</a:t>
            </a:r>
            <a:r>
              <a:rPr lang="en-US" altLang="ko-KR" dirty="0"/>
              <a:t>(left shift) : </a:t>
            </a:r>
            <a:r>
              <a:rPr lang="ko-KR" altLang="en-US" dirty="0"/>
              <a:t>초기값을 </a:t>
            </a:r>
            <a:r>
              <a:rPr lang="en-US" altLang="ko-KR" dirty="0"/>
              <a:t>2</a:t>
            </a:r>
            <a:r>
              <a:rPr lang="ko-KR" altLang="en-US" dirty="0" err="1"/>
              <a:t>배한</a:t>
            </a:r>
            <a:r>
              <a:rPr lang="ko-KR" altLang="en-US" dirty="0"/>
              <a:t> 결과 </a:t>
            </a:r>
          </a:p>
          <a:p>
            <a:pPr lvl="1" eaLnBrk="1" hangingPunct="1">
              <a:defRPr/>
            </a:pPr>
            <a:r>
              <a:rPr lang="ko-KR" altLang="en-US" dirty="0"/>
              <a:t>오른쪽 이동</a:t>
            </a:r>
            <a:r>
              <a:rPr lang="en-US" altLang="ko-KR" dirty="0"/>
              <a:t>(right shift) : </a:t>
            </a:r>
            <a:r>
              <a:rPr lang="ko-KR" altLang="en-US" dirty="0"/>
              <a:t>초기값을 </a:t>
            </a:r>
            <a:r>
              <a:rPr lang="en-US" altLang="ko-KR" dirty="0"/>
              <a:t>2</a:t>
            </a:r>
            <a:r>
              <a:rPr lang="ko-KR" altLang="en-US" dirty="0"/>
              <a:t>로 나눈 것</a:t>
            </a:r>
          </a:p>
          <a:p>
            <a:pPr lvl="1" eaLnBrk="1" hangingPunct="1">
              <a:defRPr/>
            </a:pPr>
            <a:endParaRPr lang="ko-KR" altLang="en-US" dirty="0"/>
          </a:p>
          <a:p>
            <a:pPr lvl="1" eaLnBrk="1" hangingPunct="1">
              <a:defRPr/>
            </a:pPr>
            <a:endParaRPr lang="ko-KR" altLang="en-US" dirty="0"/>
          </a:p>
          <a:p>
            <a:pPr lvl="1" eaLnBrk="1" hangingPunct="1">
              <a:defRPr/>
            </a:pPr>
            <a:endParaRPr lang="ko-KR" altLang="en-US" dirty="0"/>
          </a:p>
          <a:p>
            <a:pPr lvl="1" eaLnBrk="1" hangingPunct="1">
              <a:defRPr/>
            </a:pPr>
            <a:endParaRPr lang="ko-KR" altLang="en-US" dirty="0"/>
          </a:p>
          <a:p>
            <a:pPr lvl="2" eaLnBrk="1" hangingPunct="1">
              <a:defRPr/>
            </a:pPr>
            <a:r>
              <a:rPr lang="ko-KR" altLang="en-US" dirty="0"/>
              <a:t>예</a:t>
            </a:r>
            <a:r>
              <a:rPr lang="en-US" altLang="ko-KR" dirty="0"/>
              <a:t>) a = 10, </a:t>
            </a:r>
            <a:r>
              <a:rPr lang="ko-KR" altLang="en-US" dirty="0"/>
              <a:t>즉</a:t>
            </a:r>
            <a:r>
              <a:rPr lang="en-US" altLang="ko-KR" dirty="0"/>
              <a:t>, 1010 </a:t>
            </a:r>
          </a:p>
          <a:p>
            <a:pPr marL="914400" lvl="2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ko-KR" dirty="0">
                <a:latin typeface="Arial" charset="0"/>
              </a:rPr>
              <a:t>          </a:t>
            </a:r>
            <a:r>
              <a:rPr lang="en-US" altLang="ko-KR" dirty="0"/>
              <a:t>b = 9, </a:t>
            </a:r>
            <a:r>
              <a:rPr lang="ko-KR" altLang="en-US" dirty="0"/>
              <a:t>즉</a:t>
            </a:r>
            <a:r>
              <a:rPr lang="en-US" altLang="ko-KR" dirty="0"/>
              <a:t>,</a:t>
            </a:r>
            <a:r>
              <a:rPr lang="en-US" altLang="ko-KR" dirty="0">
                <a:latin typeface="Arial" charset="0"/>
              </a:rPr>
              <a:t> </a:t>
            </a:r>
            <a:r>
              <a:rPr lang="en-US" altLang="ko-KR" dirty="0"/>
              <a:t> 1001 </a:t>
            </a:r>
          </a:p>
          <a:p>
            <a:pPr lvl="2" eaLnBrk="1" hangingPunct="1">
              <a:defRPr/>
            </a:pPr>
            <a:r>
              <a:rPr lang="en-US" altLang="ko-KR" dirty="0"/>
              <a:t> a &lt;&lt; 1</a:t>
            </a:r>
            <a:r>
              <a:rPr lang="en-US" altLang="ko-KR" dirty="0">
                <a:latin typeface="Arial" charset="0"/>
              </a:rPr>
              <a:t> </a:t>
            </a:r>
            <a:r>
              <a:rPr lang="en-US" altLang="ko-KR" dirty="0"/>
              <a:t> = 10100 </a:t>
            </a:r>
          </a:p>
          <a:p>
            <a:pPr lvl="2" eaLnBrk="1" hangingPunct="1">
              <a:defRPr/>
            </a:pPr>
            <a:r>
              <a:rPr lang="en-US" altLang="ko-KR" dirty="0"/>
              <a:t> b &lt;&lt; 2</a:t>
            </a:r>
            <a:r>
              <a:rPr lang="en-US" altLang="ko-KR" dirty="0">
                <a:latin typeface="Arial" charset="0"/>
              </a:rPr>
              <a:t> </a:t>
            </a:r>
            <a:r>
              <a:rPr lang="en-US" altLang="ko-KR" dirty="0"/>
              <a:t> = 100100</a:t>
            </a:r>
          </a:p>
          <a:p>
            <a:pPr lvl="2" eaLnBrk="1" hangingPunct="1">
              <a:defRPr/>
            </a:pPr>
            <a:r>
              <a:rPr lang="en-US" altLang="ko-KR" dirty="0"/>
              <a:t> a &gt;&gt; 2</a:t>
            </a:r>
            <a:r>
              <a:rPr lang="en-US" altLang="ko-KR" dirty="0">
                <a:latin typeface="Arial" charset="0"/>
              </a:rPr>
              <a:t> </a:t>
            </a:r>
            <a:r>
              <a:rPr lang="en-US" altLang="ko-KR" dirty="0"/>
              <a:t> = 10 </a:t>
            </a:r>
          </a:p>
          <a:p>
            <a:pPr lvl="2" eaLnBrk="1" hangingPunct="1">
              <a:defRPr/>
            </a:pPr>
            <a:r>
              <a:rPr lang="en-US" altLang="ko-KR" dirty="0"/>
              <a:t> b &gt;&gt; 1</a:t>
            </a:r>
            <a:r>
              <a:rPr lang="en-US" altLang="ko-KR" dirty="0">
                <a:latin typeface="Arial" charset="0"/>
              </a:rPr>
              <a:t> </a:t>
            </a:r>
            <a:r>
              <a:rPr lang="en-US" altLang="ko-KR" dirty="0"/>
              <a:t> = 100  </a:t>
            </a:r>
          </a:p>
        </p:txBody>
      </p:sp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8425" y="2133600"/>
            <a:ext cx="5208588" cy="1044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26629" name="직사각형 4"/>
          <p:cNvSpPr>
            <a:spLocks noChangeArrowheads="1"/>
          </p:cNvSpPr>
          <p:nvPr/>
        </p:nvSpPr>
        <p:spPr bwMode="auto">
          <a:xfrm>
            <a:off x="1403350" y="2124075"/>
            <a:ext cx="5173663" cy="10541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487" tIns="44450" rIns="90487" bIns="44450"/>
          <a:lstStyle>
            <a:lvl1pPr marL="342900" indent="-342900" latinLnBrk="1">
              <a:spcBef>
                <a:spcPct val="20000"/>
              </a:spcBef>
              <a:buClr>
                <a:srgbClr val="FF3300"/>
              </a:buClr>
              <a:buSzPct val="80000"/>
              <a:buFont typeface="Monotype Sorts" pitchFamily="2" charset="2"/>
              <a:buChar char="q"/>
              <a:defRPr kumimoji="1" sz="2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ü"/>
              <a:defRPr kumimoji="1" sz="24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Ø"/>
              <a:defRPr kumimoji="1" sz="20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80000"/>
              <a:buFont typeface="굴림" panose="020B0600000101010101" pitchFamily="50" charset="-127"/>
              <a:buChar char="−"/>
              <a:defRPr kumimoji="1" sz="16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sz="2200"/>
          </a:p>
        </p:txBody>
      </p:sp>
    </p:spTree>
    <p:extLst>
      <p:ext uri="{BB962C8B-B14F-4D97-AF65-F5344CB8AC3E}">
        <p14:creationId xmlns:p14="http://schemas.microsoft.com/office/powerpoint/2010/main" val="1457395383"/>
      </p:ext>
    </p:extLst>
  </p:cSld>
  <p:clrMapOvr>
    <a:masterClrMapping/>
  </p:clrMapOvr>
</p:sld>
</file>

<file path=ppt/theme/theme1.xml><?xml version="1.0" encoding="utf-8"?>
<a:theme xmlns:a="http://schemas.openxmlformats.org/drawingml/2006/main" name="2_lab서식">
  <a:themeElements>
    <a:clrScheme name="2_lab서식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2_lab서식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tx1"/>
                </a:outerShdw>
              </a:effectLst>
            </a14:hiddenEffects>
          </a:ext>
        </a:extLst>
      </a:spPr>
      <a:bodyPr vert="horz" wrap="square" lIns="90487" tIns="44450" rIns="90487" bIns="4445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1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FF3300"/>
          </a:buClr>
          <a:buSzPct val="80000"/>
          <a:buFont typeface="Monotype Sorts" pitchFamily="2" charset="2"/>
          <a:buChar char="q"/>
          <a:tabLst/>
          <a:defRPr kumimoji="1" lang="ko-KR" altLang="en-US" sz="2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굴림" pitchFamily="50" charset="-127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tx1"/>
                </a:outerShdw>
              </a:effectLst>
            </a14:hiddenEffects>
          </a:ext>
        </a:extLst>
      </a:spPr>
      <a:bodyPr vert="horz" wrap="square" lIns="90487" tIns="44450" rIns="90487" bIns="4445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1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FF3300"/>
          </a:buClr>
          <a:buSzPct val="80000"/>
          <a:buFont typeface="Monotype Sorts" pitchFamily="2" charset="2"/>
          <a:buChar char="q"/>
          <a:tabLst/>
          <a:defRPr kumimoji="1" lang="ko-KR" altLang="en-US" sz="2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굴림" pitchFamily="50" charset="-127"/>
            <a:ea typeface="굴림" pitchFamily="50" charset="-127"/>
          </a:defRPr>
        </a:defPPr>
      </a:lstStyle>
    </a:lnDef>
  </a:objectDefaults>
  <a:extraClrSchemeLst>
    <a:extraClrScheme>
      <a:clrScheme name="2_lab서식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lab서식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lab서식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lab서식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lab서식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lab서식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lab서식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13078</TotalTime>
  <Words>1077</Words>
  <Application>Microsoft Office PowerPoint</Application>
  <PresentationFormat>화면 슬라이드 쇼(4:3)</PresentationFormat>
  <Paragraphs>151</Paragraphs>
  <Slides>19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8" baseType="lpstr">
      <vt:lpstr>MD솔체</vt:lpstr>
      <vt:lpstr>Monotype Sorts</vt:lpstr>
      <vt:lpstr>굴림</vt:lpstr>
      <vt:lpstr>맑은 고딕</vt:lpstr>
      <vt:lpstr>휴먼옛체</vt:lpstr>
      <vt:lpstr>Arial</vt:lpstr>
      <vt:lpstr>Times New Roman</vt:lpstr>
      <vt:lpstr>Wingdings</vt:lpstr>
      <vt:lpstr>2_lab서식</vt:lpstr>
      <vt:lpstr>PowerPoint 프레젠테이션</vt:lpstr>
      <vt:lpstr>제 1장  C 언어의 개요(5. 표준 입출력)</vt:lpstr>
      <vt:lpstr>제 1장  C 언어의 개요(5. 표준 입출력)</vt:lpstr>
      <vt:lpstr>제 1장  C 언어의 개요(5. 표준 입출력)</vt:lpstr>
      <vt:lpstr>제 1장  C 언어의 개요(5. 표준 입출력)</vt:lpstr>
      <vt:lpstr>제 1장  C 언어의 개요(5. 표준 입출력)</vt:lpstr>
      <vt:lpstr>제 1장  C 언어의 개요(5. 표준 입출력)</vt:lpstr>
      <vt:lpstr>제 1장  C 언어의 개요(5. 표준 입출력)</vt:lpstr>
      <vt:lpstr>PowerPoint 프레젠테이션</vt:lpstr>
      <vt:lpstr>제 2장 자료형(2. 변수의 선언)</vt:lpstr>
      <vt:lpstr>제 2장 자료형(2. 변수의 선언)</vt:lpstr>
      <vt:lpstr>PowerPoint 프레젠테이션</vt:lpstr>
      <vt:lpstr>제 3장 연산자(1. 산술 연산자)</vt:lpstr>
      <vt:lpstr>제 3장 연산자(1. 산술 연산자)</vt:lpstr>
      <vt:lpstr>제 3장 연산자(2. 비트 연산자)</vt:lpstr>
      <vt:lpstr>제 3장 연산자(2. 비트 연산자)</vt:lpstr>
      <vt:lpstr>제 3장 연산자(2. 비트 연산자)</vt:lpstr>
      <vt:lpstr>제 3장 연산자(2. 비트 연산자)</vt:lpstr>
      <vt:lpstr>제 3장 연산자(2. 비트 연산자)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제목 없음</dc:title>
  <dc:creator>하재철</dc:creator>
  <cp:lastModifiedBy>하재철</cp:lastModifiedBy>
  <cp:revision>288</cp:revision>
  <cp:lastPrinted>2020-09-04T12:50:42Z</cp:lastPrinted>
  <dcterms:created xsi:type="dcterms:W3CDTF">1997-09-08T10:52:24Z</dcterms:created>
  <dcterms:modified xsi:type="dcterms:W3CDTF">2026-03-19T01:05:05Z</dcterms:modified>
</cp:coreProperties>
</file>